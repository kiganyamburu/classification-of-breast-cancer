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1524be2c2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1524be2c2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1524be2c2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1524be2c2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524be2c2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1524be2c2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1524be2c2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1524be2c2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1524be2c2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1524be2c2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1524be2c2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1524be2c2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1524be2c2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1524be2c2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1524be2c2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1524be2c2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1524be2c2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1524be2c2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1524be2c2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1524be2c2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1524be2c2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1524be2c2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1524be2c2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1524be2c2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1524be2c2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1524be2c2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1524be2c2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1524be2c2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981875" y="671350"/>
            <a:ext cx="58101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900">
                <a:latin typeface="Arial"/>
                <a:ea typeface="Arial"/>
                <a:cs typeface="Arial"/>
                <a:sym typeface="Arial"/>
              </a:rPr>
              <a:t>Breast Cancer Classification</a:t>
            </a:r>
            <a:endParaRPr/>
          </a:p>
        </p:txBody>
      </p:sp>
      <p:sp>
        <p:nvSpPr>
          <p:cNvPr id="135" name="Google Shape;135;p13"/>
          <p:cNvSpPr txBox="1"/>
          <p:nvPr>
            <p:ph idx="1" type="subTitle"/>
          </p:nvPr>
        </p:nvSpPr>
        <p:spPr>
          <a:xfrm>
            <a:off x="3521200" y="3600775"/>
            <a:ext cx="5198400" cy="799200"/>
          </a:xfrm>
          <a:prstGeom prst="rect">
            <a:avLst/>
          </a:prstGeom>
        </p:spPr>
        <p:txBody>
          <a:bodyPr anchorCtr="0" anchor="t" bIns="91425" lIns="91425" spcFirstLastPara="1" rIns="91425" wrap="square" tIns="91425">
            <a:normAutofit fontScale="32500" lnSpcReduction="20000"/>
          </a:bodyPr>
          <a:lstStyle/>
          <a:p>
            <a:pPr indent="0" lvl="0" marL="0" rtl="0" algn="l">
              <a:lnSpc>
                <a:spcPct val="135714"/>
              </a:lnSpc>
              <a:spcBef>
                <a:spcPts val="0"/>
              </a:spcBef>
              <a:spcAft>
                <a:spcPts val="0"/>
              </a:spcAft>
              <a:buNone/>
            </a:pPr>
            <a:r>
              <a:rPr lang="en" sz="4693">
                <a:highlight>
                  <a:srgbClr val="1F1F1F"/>
                </a:highlight>
                <a:latin typeface="Times New Roman"/>
                <a:ea typeface="Times New Roman"/>
                <a:cs typeface="Times New Roman"/>
                <a:sym typeface="Times New Roman"/>
              </a:rPr>
              <a:t>PREPARED AND PRESENTED </a:t>
            </a:r>
            <a:r>
              <a:rPr lang="en" sz="4693">
                <a:highlight>
                  <a:srgbClr val="1F1F1F"/>
                </a:highlight>
                <a:latin typeface="Times New Roman"/>
                <a:ea typeface="Times New Roman"/>
                <a:cs typeface="Times New Roman"/>
                <a:sym typeface="Times New Roman"/>
              </a:rPr>
              <a:t> BY: </a:t>
            </a:r>
            <a:endParaRPr sz="4693">
              <a:highlight>
                <a:srgbClr val="1F1F1F"/>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en" sz="4693">
                <a:highlight>
                  <a:srgbClr val="1F1F1F"/>
                </a:highlight>
                <a:latin typeface="Times New Roman"/>
                <a:ea typeface="Times New Roman"/>
                <a:cs typeface="Times New Roman"/>
                <a:sym typeface="Times New Roman"/>
              </a:rPr>
              <a:t>ANDERSON MTAWALI AND PETER KIGANYA MBURU</a:t>
            </a:r>
            <a:endParaRPr b="1" sz="4693">
              <a:highlight>
                <a:srgbClr val="1F1F1F"/>
              </a:highlight>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36" name="Google Shape;136;p13"/>
          <p:cNvSpPr txBox="1"/>
          <p:nvPr>
            <p:ph idx="1" type="subTitle"/>
          </p:nvPr>
        </p:nvSpPr>
        <p:spPr>
          <a:xfrm>
            <a:off x="3521200" y="2510475"/>
            <a:ext cx="4939800" cy="5973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600"/>
              </a:spcBef>
              <a:spcAft>
                <a:spcPts val="0"/>
              </a:spcAft>
              <a:buNone/>
            </a:pPr>
            <a:r>
              <a:rPr lang="en" sz="6000">
                <a:latin typeface="Arial"/>
                <a:ea typeface="Arial"/>
                <a:cs typeface="Arial"/>
                <a:sym typeface="Arial"/>
              </a:rPr>
              <a:t>Machine Learning Capstone Project</a:t>
            </a:r>
            <a:endParaRPr sz="6000">
              <a:latin typeface="Arial"/>
              <a:ea typeface="Arial"/>
              <a:cs typeface="Arial"/>
              <a:sym typeface="Arial"/>
            </a:endParaRPr>
          </a:p>
          <a:p>
            <a:pPr indent="0" lvl="0" marL="0" rtl="0" algn="l">
              <a:lnSpc>
                <a:spcPct val="115000"/>
              </a:lnSpc>
              <a:spcBef>
                <a:spcPts val="800"/>
              </a:spcBef>
              <a:spcAft>
                <a:spcPts val="0"/>
              </a:spcAft>
              <a:buNone/>
            </a:pPr>
            <a:r>
              <a:rPr lang="en" sz="6800">
                <a:latin typeface="Arial"/>
                <a:ea typeface="Arial"/>
                <a:cs typeface="Arial"/>
                <a:sym typeface="Arial"/>
              </a:rPr>
              <a:t>Predicting Malignant vs Benign Tumors</a:t>
            </a:r>
            <a:endParaRPr sz="68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728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4000">
                <a:latin typeface="Arial"/>
                <a:ea typeface="Arial"/>
                <a:cs typeface="Arial"/>
                <a:sym typeface="Arial"/>
              </a:rPr>
              <a:t>Problem Statement</a:t>
            </a:r>
            <a:endParaRPr/>
          </a:p>
        </p:txBody>
      </p:sp>
      <p:sp>
        <p:nvSpPr>
          <p:cNvPr id="142" name="Google Shape;142;p14"/>
          <p:cNvSpPr txBox="1"/>
          <p:nvPr>
            <p:ph idx="1" type="body"/>
          </p:nvPr>
        </p:nvSpPr>
        <p:spPr>
          <a:xfrm>
            <a:off x="983925" y="1122150"/>
            <a:ext cx="7758900" cy="3297300"/>
          </a:xfrm>
          <a:prstGeom prst="rect">
            <a:avLst/>
          </a:prstGeom>
        </p:spPr>
        <p:txBody>
          <a:bodyPr anchorCtr="0" anchor="t" bIns="91425" lIns="91425" spcFirstLastPara="1" rIns="91425" wrap="square" tIns="91425">
            <a:normAutofit fontScale="70000" lnSpcReduction="10000"/>
          </a:bodyPr>
          <a:lstStyle/>
          <a:p>
            <a:pPr indent="0" lvl="0" marL="0" rtl="0" algn="l">
              <a:lnSpc>
                <a:spcPct val="100000"/>
              </a:lnSpc>
              <a:spcBef>
                <a:spcPts val="0"/>
              </a:spcBef>
              <a:spcAft>
                <a:spcPts val="0"/>
              </a:spcAft>
              <a:buNone/>
            </a:pPr>
            <a:r>
              <a:rPr lang="en" sz="1975"/>
              <a:t>What are we solving?</a:t>
            </a:r>
            <a:endParaRPr sz="1975"/>
          </a:p>
          <a:p>
            <a:pPr indent="-325310" lvl="0" marL="457200" rtl="0" algn="l">
              <a:lnSpc>
                <a:spcPct val="100000"/>
              </a:lnSpc>
              <a:spcBef>
                <a:spcPts val="1200"/>
              </a:spcBef>
              <a:spcAft>
                <a:spcPts val="0"/>
              </a:spcAft>
              <a:buSzPct val="100000"/>
              <a:buFont typeface="Arial"/>
              <a:buChar char="●"/>
            </a:pPr>
            <a:r>
              <a:rPr lang="en" sz="2175">
                <a:latin typeface="Arial"/>
                <a:ea typeface="Arial"/>
                <a:cs typeface="Arial"/>
                <a:sym typeface="Arial"/>
              </a:rPr>
              <a:t>Automated classification of breast tumors as Benign or Malignant based on cell measurements</a:t>
            </a:r>
            <a:endParaRPr sz="2175">
              <a:solidFill>
                <a:srgbClr val="000000"/>
              </a:solidFill>
              <a:latin typeface="Arial"/>
              <a:ea typeface="Arial"/>
              <a:cs typeface="Arial"/>
              <a:sym typeface="Arial"/>
            </a:endParaRPr>
          </a:p>
          <a:p>
            <a:pPr indent="0" lvl="0" marL="0" rtl="0" algn="l">
              <a:lnSpc>
                <a:spcPct val="100000"/>
              </a:lnSpc>
              <a:spcBef>
                <a:spcPts val="400"/>
              </a:spcBef>
              <a:spcAft>
                <a:spcPts val="0"/>
              </a:spcAft>
              <a:buNone/>
            </a:pPr>
            <a:r>
              <a:rPr lang="en" sz="2175">
                <a:latin typeface="Arial"/>
                <a:ea typeface="Arial"/>
                <a:cs typeface="Arial"/>
                <a:sym typeface="Arial"/>
              </a:rPr>
              <a:t>Why does it matter?</a:t>
            </a:r>
            <a:endParaRPr sz="2175">
              <a:latin typeface="Arial"/>
              <a:ea typeface="Arial"/>
              <a:cs typeface="Arial"/>
              <a:sym typeface="Arial"/>
            </a:endParaRPr>
          </a:p>
          <a:p>
            <a:pPr indent="-325310" lvl="0" marL="457200" rtl="0" algn="l">
              <a:lnSpc>
                <a:spcPct val="100000"/>
              </a:lnSpc>
              <a:spcBef>
                <a:spcPts val="400"/>
              </a:spcBef>
              <a:spcAft>
                <a:spcPts val="0"/>
              </a:spcAft>
              <a:buSzPct val="100000"/>
              <a:buFont typeface="Arial"/>
              <a:buChar char="●"/>
            </a:pPr>
            <a:r>
              <a:rPr lang="en" sz="2175">
                <a:latin typeface="Arial"/>
                <a:ea typeface="Arial"/>
                <a:cs typeface="Arial"/>
                <a:sym typeface="Arial"/>
              </a:rPr>
              <a:t>Breast cancer is one of the most common cancers affecting women worldwide</a:t>
            </a:r>
            <a:endParaRPr sz="2175">
              <a:latin typeface="Arial"/>
              <a:ea typeface="Arial"/>
              <a:cs typeface="Arial"/>
              <a:sym typeface="Arial"/>
            </a:endParaRPr>
          </a:p>
          <a:p>
            <a:pPr indent="-325310" lvl="0" marL="457200" rtl="0" algn="l">
              <a:lnSpc>
                <a:spcPct val="100000"/>
              </a:lnSpc>
              <a:spcBef>
                <a:spcPts val="0"/>
              </a:spcBef>
              <a:spcAft>
                <a:spcPts val="0"/>
              </a:spcAft>
              <a:buSzPct val="100000"/>
              <a:buFont typeface="Arial"/>
              <a:buChar char="●"/>
            </a:pPr>
            <a:r>
              <a:rPr lang="en" sz="2175">
                <a:latin typeface="Arial"/>
                <a:ea typeface="Arial"/>
                <a:cs typeface="Arial"/>
                <a:sym typeface="Arial"/>
              </a:rPr>
              <a:t>Early and accurate diagnosis significantly improves survival rates (99% for early detection)</a:t>
            </a:r>
            <a:endParaRPr sz="2175">
              <a:latin typeface="Arial"/>
              <a:ea typeface="Arial"/>
              <a:cs typeface="Arial"/>
              <a:sym typeface="Arial"/>
            </a:endParaRPr>
          </a:p>
          <a:p>
            <a:pPr indent="-325310" lvl="0" marL="457200" rtl="0" algn="l">
              <a:lnSpc>
                <a:spcPct val="100000"/>
              </a:lnSpc>
              <a:spcBef>
                <a:spcPts val="0"/>
              </a:spcBef>
              <a:spcAft>
                <a:spcPts val="0"/>
              </a:spcAft>
              <a:buSzPct val="100000"/>
              <a:buFont typeface="Arial"/>
              <a:buChar char="●"/>
            </a:pPr>
            <a:r>
              <a:rPr lang="en" sz="2175">
                <a:latin typeface="Arial"/>
                <a:ea typeface="Arial"/>
                <a:cs typeface="Arial"/>
                <a:sym typeface="Arial"/>
              </a:rPr>
              <a:t>Manual diagnosis can be time-consuming and subjective</a:t>
            </a:r>
            <a:endParaRPr sz="2175">
              <a:latin typeface="Arial"/>
              <a:ea typeface="Arial"/>
              <a:cs typeface="Arial"/>
              <a:sym typeface="Arial"/>
            </a:endParaRPr>
          </a:p>
          <a:p>
            <a:pPr indent="0" lvl="0" marL="0" rtl="0" algn="l">
              <a:lnSpc>
                <a:spcPct val="100000"/>
              </a:lnSpc>
              <a:spcBef>
                <a:spcPts val="400"/>
              </a:spcBef>
              <a:spcAft>
                <a:spcPts val="0"/>
              </a:spcAft>
              <a:buNone/>
            </a:pPr>
            <a:r>
              <a:rPr lang="en" sz="2175">
                <a:latin typeface="Arial"/>
                <a:ea typeface="Arial"/>
                <a:cs typeface="Arial"/>
                <a:sym typeface="Arial"/>
              </a:rPr>
              <a:t>Real-world impact:</a:t>
            </a:r>
            <a:endParaRPr sz="2175">
              <a:latin typeface="Arial"/>
              <a:ea typeface="Arial"/>
              <a:cs typeface="Arial"/>
              <a:sym typeface="Arial"/>
            </a:endParaRPr>
          </a:p>
          <a:p>
            <a:pPr indent="-325310" lvl="0" marL="457200" rtl="0" algn="l">
              <a:lnSpc>
                <a:spcPct val="100000"/>
              </a:lnSpc>
              <a:spcBef>
                <a:spcPts val="400"/>
              </a:spcBef>
              <a:spcAft>
                <a:spcPts val="0"/>
              </a:spcAft>
              <a:buSzPct val="100000"/>
              <a:buFont typeface="Arial"/>
              <a:buChar char="●"/>
            </a:pPr>
            <a:r>
              <a:rPr lang="en" sz="2175">
                <a:latin typeface="Arial"/>
                <a:ea typeface="Arial"/>
                <a:cs typeface="Arial"/>
                <a:sym typeface="Arial"/>
              </a:rPr>
              <a:t>Assists medical professionals in making faster, data-driven decisions</a:t>
            </a:r>
            <a:endParaRPr sz="2175">
              <a:latin typeface="Arial"/>
              <a:ea typeface="Arial"/>
              <a:cs typeface="Arial"/>
              <a:sym typeface="Arial"/>
            </a:endParaRPr>
          </a:p>
          <a:p>
            <a:pPr indent="-325310" lvl="0" marL="457200" rtl="0" algn="l">
              <a:lnSpc>
                <a:spcPct val="100000"/>
              </a:lnSpc>
              <a:spcBef>
                <a:spcPts val="0"/>
              </a:spcBef>
              <a:spcAft>
                <a:spcPts val="0"/>
              </a:spcAft>
              <a:buSzPct val="100000"/>
              <a:buFont typeface="Arial"/>
              <a:buChar char="●"/>
            </a:pPr>
            <a:r>
              <a:rPr lang="en" sz="2175">
                <a:latin typeface="Arial"/>
                <a:ea typeface="Arial"/>
                <a:cs typeface="Arial"/>
                <a:sym typeface="Arial"/>
              </a:rPr>
              <a:t>Reduces diagnostic errors and improves patient outcomes</a:t>
            </a:r>
            <a:endParaRPr sz="2175">
              <a:latin typeface="Arial"/>
              <a:ea typeface="Arial"/>
              <a:cs typeface="Arial"/>
              <a:sym typeface="Arial"/>
            </a:endParaRPr>
          </a:p>
          <a:p>
            <a:pPr indent="-325310" lvl="0" marL="457200" rtl="0" algn="l">
              <a:lnSpc>
                <a:spcPct val="100000"/>
              </a:lnSpc>
              <a:spcBef>
                <a:spcPts val="0"/>
              </a:spcBef>
              <a:spcAft>
                <a:spcPts val="0"/>
              </a:spcAft>
              <a:buSzPct val="100000"/>
              <a:buFont typeface="Arial"/>
              <a:buChar char="●"/>
            </a:pPr>
            <a:r>
              <a:rPr lang="en" sz="2175">
                <a:latin typeface="Arial"/>
                <a:ea typeface="Arial"/>
                <a:cs typeface="Arial"/>
                <a:sym typeface="Arial"/>
              </a:rPr>
              <a:t>Supports screening programs in resource-limited settings</a:t>
            </a:r>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67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300">
                <a:highlight>
                  <a:schemeClr val="dk1"/>
                </a:highlight>
                <a:latin typeface="Arial"/>
                <a:ea typeface="Arial"/>
                <a:cs typeface="Arial"/>
                <a:sym typeface="Arial"/>
              </a:rPr>
              <a:t>Step 1: Data Source</a:t>
            </a:r>
            <a:endParaRPr sz="1700">
              <a:highlight>
                <a:schemeClr val="dk1"/>
              </a:highlight>
            </a:endParaRPr>
          </a:p>
        </p:txBody>
      </p:sp>
      <p:sp>
        <p:nvSpPr>
          <p:cNvPr id="148" name="Google Shape;148;p15"/>
          <p:cNvSpPr txBox="1"/>
          <p:nvPr>
            <p:ph idx="1" type="body"/>
          </p:nvPr>
        </p:nvSpPr>
        <p:spPr>
          <a:xfrm>
            <a:off x="1297500" y="1183400"/>
            <a:ext cx="7038900" cy="3295500"/>
          </a:xfrm>
          <a:prstGeom prst="rect">
            <a:avLst/>
          </a:prstGeom>
        </p:spPr>
        <p:txBody>
          <a:bodyPr anchorCtr="0" anchor="t" bIns="91425" lIns="91425" spcFirstLastPara="1" rIns="91425" wrap="square" tIns="91425">
            <a:normAutofit fontScale="70000"/>
          </a:bodyPr>
          <a:lstStyle/>
          <a:p>
            <a:pPr indent="0" lvl="0" marL="0" rtl="0" algn="l">
              <a:spcBef>
                <a:spcPts val="400"/>
              </a:spcBef>
              <a:spcAft>
                <a:spcPts val="0"/>
              </a:spcAft>
              <a:buNone/>
            </a:pPr>
            <a:r>
              <a:rPr lang="en" sz="1800">
                <a:latin typeface="Arial"/>
                <a:ea typeface="Arial"/>
                <a:cs typeface="Arial"/>
                <a:sym typeface="Arial"/>
              </a:rPr>
              <a:t>Data Source:</a:t>
            </a:r>
            <a:endParaRPr sz="1800">
              <a:latin typeface="Arial"/>
              <a:ea typeface="Arial"/>
              <a:cs typeface="Arial"/>
              <a:sym typeface="Arial"/>
            </a:endParaRPr>
          </a:p>
          <a:p>
            <a:pPr indent="-308610" lvl="0" marL="457200" rtl="0" algn="l">
              <a:spcBef>
                <a:spcPts val="400"/>
              </a:spcBef>
              <a:spcAft>
                <a:spcPts val="0"/>
              </a:spcAft>
              <a:buSzPct val="100000"/>
              <a:buFont typeface="Arial"/>
              <a:buChar char="●"/>
            </a:pPr>
            <a:r>
              <a:rPr lang="en" sz="1800">
                <a:latin typeface="Arial"/>
                <a:ea typeface="Arial"/>
                <a:cs typeface="Arial"/>
                <a:sym typeface="Arial"/>
              </a:rPr>
              <a:t>Breast Cancer Wisconsin (Diagnostic) Dataset</a:t>
            </a:r>
            <a:endParaRPr sz="1800">
              <a:latin typeface="Arial"/>
              <a:ea typeface="Arial"/>
              <a:cs typeface="Arial"/>
              <a:sym typeface="Arial"/>
            </a:endParaRPr>
          </a:p>
          <a:p>
            <a:pPr indent="-308610" lvl="0" marL="457200" rtl="0" algn="l">
              <a:spcBef>
                <a:spcPts val="0"/>
              </a:spcBef>
              <a:spcAft>
                <a:spcPts val="0"/>
              </a:spcAft>
              <a:buSzPct val="100000"/>
              <a:buFont typeface="Arial"/>
              <a:buChar char="●"/>
            </a:pPr>
            <a:r>
              <a:rPr lang="en" sz="1800">
                <a:latin typeface="Arial"/>
                <a:ea typeface="Arial"/>
                <a:cs typeface="Arial"/>
                <a:sym typeface="Arial"/>
              </a:rPr>
              <a:t>UCI Machine Learning Repository</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Dataset Characteristics:</a:t>
            </a:r>
            <a:endParaRPr sz="1800">
              <a:latin typeface="Arial"/>
              <a:ea typeface="Arial"/>
              <a:cs typeface="Arial"/>
              <a:sym typeface="Arial"/>
            </a:endParaRPr>
          </a:p>
          <a:p>
            <a:pPr indent="-308610" lvl="0" marL="457200" rtl="0" algn="l">
              <a:spcBef>
                <a:spcPts val="400"/>
              </a:spcBef>
              <a:spcAft>
                <a:spcPts val="0"/>
              </a:spcAft>
              <a:buSzPct val="100000"/>
              <a:buFont typeface="Arial"/>
              <a:buChar char="●"/>
            </a:pPr>
            <a:r>
              <a:rPr lang="en" sz="1800">
                <a:latin typeface="Arial"/>
                <a:ea typeface="Arial"/>
                <a:cs typeface="Arial"/>
                <a:sym typeface="Arial"/>
              </a:rPr>
              <a:t>569 samples (357 Benign, 212 Malignant)</a:t>
            </a:r>
            <a:endParaRPr sz="1800">
              <a:latin typeface="Arial"/>
              <a:ea typeface="Arial"/>
              <a:cs typeface="Arial"/>
              <a:sym typeface="Arial"/>
            </a:endParaRPr>
          </a:p>
          <a:p>
            <a:pPr indent="-308610" lvl="0" marL="457200" rtl="0" algn="l">
              <a:spcBef>
                <a:spcPts val="0"/>
              </a:spcBef>
              <a:spcAft>
                <a:spcPts val="0"/>
              </a:spcAft>
              <a:buSzPct val="100000"/>
              <a:buFont typeface="Arial"/>
              <a:buChar char="●"/>
            </a:pPr>
            <a:r>
              <a:rPr lang="en" sz="1800">
                <a:latin typeface="Arial"/>
                <a:ea typeface="Arial"/>
                <a:cs typeface="Arial"/>
                <a:sym typeface="Arial"/>
              </a:rPr>
              <a:t>30 numeric features derived from digitized images of Fine Needle Aspirate (FNA)</a:t>
            </a:r>
            <a:endParaRPr sz="1800">
              <a:latin typeface="Arial"/>
              <a:ea typeface="Arial"/>
              <a:cs typeface="Arial"/>
              <a:sym typeface="Arial"/>
            </a:endParaRPr>
          </a:p>
          <a:p>
            <a:pPr indent="-308610" lvl="0" marL="457200" rtl="0" algn="l">
              <a:spcBef>
                <a:spcPts val="0"/>
              </a:spcBef>
              <a:spcAft>
                <a:spcPts val="0"/>
              </a:spcAft>
              <a:buSzPct val="100000"/>
              <a:buFont typeface="Arial"/>
              <a:buChar char="●"/>
            </a:pPr>
            <a:r>
              <a:rPr lang="en" sz="1800">
                <a:latin typeface="Arial"/>
                <a:ea typeface="Arial"/>
                <a:cs typeface="Arial"/>
                <a:sym typeface="Arial"/>
              </a:rPr>
              <a:t>Features computed for each cell nucleus: radius, texture, perimeter, area, smoothness, compactness, concavity, concave points, symmetry, fractal dimension</a:t>
            </a:r>
            <a:endParaRPr sz="1800">
              <a:latin typeface="Arial"/>
              <a:ea typeface="Arial"/>
              <a:cs typeface="Arial"/>
              <a:sym typeface="Arial"/>
            </a:endParaRPr>
          </a:p>
          <a:p>
            <a:pPr indent="-308610" lvl="0" marL="457200" rtl="0" algn="l">
              <a:spcBef>
                <a:spcPts val="0"/>
              </a:spcBef>
              <a:spcAft>
                <a:spcPts val="0"/>
              </a:spcAft>
              <a:buSzPct val="100000"/>
              <a:buFont typeface="Arial"/>
              <a:buChar char="●"/>
            </a:pPr>
            <a:r>
              <a:rPr lang="en" sz="1800">
                <a:latin typeface="Arial"/>
                <a:ea typeface="Arial"/>
                <a:cs typeface="Arial"/>
                <a:sym typeface="Arial"/>
              </a:rPr>
              <a:t>Each feature has 3 measurements: mean, standard error (SE), and worst (largest value)</a:t>
            </a:r>
            <a:endParaRPr sz="1800">
              <a:latin typeface="Arial"/>
              <a:ea typeface="Arial"/>
              <a:cs typeface="Arial"/>
              <a:sym typeface="Arial"/>
            </a:endParaRPr>
          </a:p>
          <a:p>
            <a:pPr indent="-308610" lvl="0" marL="457200" rtl="0" algn="l">
              <a:spcBef>
                <a:spcPts val="0"/>
              </a:spcBef>
              <a:spcAft>
                <a:spcPts val="0"/>
              </a:spcAft>
              <a:buSzPct val="100000"/>
              <a:buFont typeface="Arial"/>
              <a:buChar char="●"/>
            </a:pPr>
            <a:r>
              <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Target Variable:</a:t>
            </a:r>
            <a:endParaRPr sz="1800">
              <a:latin typeface="Arial"/>
              <a:ea typeface="Arial"/>
              <a:cs typeface="Arial"/>
              <a:sym typeface="Arial"/>
            </a:endParaRPr>
          </a:p>
          <a:p>
            <a:pPr indent="-308610" lvl="0" marL="457200" rtl="0" algn="l">
              <a:spcBef>
                <a:spcPts val="400"/>
              </a:spcBef>
              <a:spcAft>
                <a:spcPts val="0"/>
              </a:spcAft>
              <a:buSzPct val="100000"/>
              <a:buFont typeface="Arial"/>
              <a:buChar char="●"/>
            </a:pPr>
            <a:r>
              <a:rPr lang="en" sz="1800">
                <a:latin typeface="Arial"/>
                <a:ea typeface="Arial"/>
                <a:cs typeface="Arial"/>
                <a:sym typeface="Arial"/>
              </a:rPr>
              <a:t>Diagnosis: M (Malignant) or B (Benign)</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4000">
                <a:latin typeface="Arial"/>
                <a:ea typeface="Arial"/>
                <a:cs typeface="Arial"/>
                <a:sym typeface="Arial"/>
              </a:rPr>
              <a:t>Step 2: Data Preparation</a:t>
            </a:r>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0" lvl="0" marL="0" rtl="0" algn="l">
              <a:spcBef>
                <a:spcPts val="400"/>
              </a:spcBef>
              <a:spcAft>
                <a:spcPts val="0"/>
              </a:spcAft>
              <a:buNone/>
            </a:pPr>
            <a:r>
              <a:rPr lang="en" sz="1842">
                <a:latin typeface="Arial"/>
                <a:ea typeface="Arial"/>
                <a:cs typeface="Arial"/>
                <a:sym typeface="Arial"/>
              </a:rPr>
              <a:t>Data Cleaning:</a:t>
            </a:r>
            <a:endParaRPr sz="1842">
              <a:latin typeface="Arial"/>
              <a:ea typeface="Arial"/>
              <a:cs typeface="Arial"/>
              <a:sym typeface="Arial"/>
            </a:endParaRPr>
          </a:p>
          <a:p>
            <a:pPr indent="-310515" lvl="0" marL="457200" rtl="0" algn="l">
              <a:spcBef>
                <a:spcPts val="400"/>
              </a:spcBef>
              <a:spcAft>
                <a:spcPts val="0"/>
              </a:spcAft>
              <a:buSzPct val="100000"/>
              <a:buFont typeface="Arial"/>
              <a:buChar char="●"/>
            </a:pPr>
            <a:r>
              <a:rPr lang="en" sz="1842">
                <a:latin typeface="Arial"/>
                <a:ea typeface="Arial"/>
                <a:cs typeface="Arial"/>
                <a:sym typeface="Arial"/>
              </a:rPr>
              <a:t>Removed unnecessary columns: 'id' (patient identifier) and 'Unnamed: 32' (empty column)</a:t>
            </a:r>
            <a:endParaRPr sz="1842">
              <a:latin typeface="Arial"/>
              <a:ea typeface="Arial"/>
              <a:cs typeface="Arial"/>
              <a:sym typeface="Arial"/>
            </a:endParaRPr>
          </a:p>
          <a:p>
            <a:pPr indent="-310515" lvl="0" marL="457200" rtl="0" algn="l">
              <a:spcBef>
                <a:spcPts val="0"/>
              </a:spcBef>
              <a:spcAft>
                <a:spcPts val="0"/>
              </a:spcAft>
              <a:buSzPct val="100000"/>
              <a:buFont typeface="Arial"/>
              <a:buChar char="●"/>
            </a:pPr>
            <a:r>
              <a:rPr lang="en" sz="1842">
                <a:latin typeface="Arial"/>
                <a:ea typeface="Arial"/>
                <a:cs typeface="Arial"/>
                <a:sym typeface="Arial"/>
              </a:rPr>
              <a:t>Verified no missing values in the dataset</a:t>
            </a:r>
            <a:endParaRPr sz="1842">
              <a:latin typeface="Arial"/>
              <a:ea typeface="Arial"/>
              <a:cs typeface="Arial"/>
              <a:sym typeface="Arial"/>
            </a:endParaRPr>
          </a:p>
          <a:p>
            <a:pPr indent="0" lvl="0" marL="0" rtl="0" algn="l">
              <a:spcBef>
                <a:spcPts val="400"/>
              </a:spcBef>
              <a:spcAft>
                <a:spcPts val="0"/>
              </a:spcAft>
              <a:buNone/>
            </a:pPr>
            <a:r>
              <a:rPr lang="en" sz="1842">
                <a:latin typeface="Arial"/>
                <a:ea typeface="Arial"/>
                <a:cs typeface="Arial"/>
                <a:sym typeface="Arial"/>
              </a:rPr>
              <a:t>Data Encoding:</a:t>
            </a:r>
            <a:endParaRPr sz="1842">
              <a:latin typeface="Arial"/>
              <a:ea typeface="Arial"/>
              <a:cs typeface="Arial"/>
              <a:sym typeface="Arial"/>
            </a:endParaRPr>
          </a:p>
          <a:p>
            <a:pPr indent="-310515" lvl="0" marL="457200" rtl="0" algn="l">
              <a:spcBef>
                <a:spcPts val="400"/>
              </a:spcBef>
              <a:spcAft>
                <a:spcPts val="0"/>
              </a:spcAft>
              <a:buSzPct val="100000"/>
              <a:buFont typeface="Arial"/>
              <a:buChar char="●"/>
            </a:pPr>
            <a:r>
              <a:rPr lang="en" sz="1842">
                <a:latin typeface="Arial"/>
                <a:ea typeface="Arial"/>
                <a:cs typeface="Arial"/>
                <a:sym typeface="Arial"/>
              </a:rPr>
              <a:t>Converted categorical target variable to numeric:</a:t>
            </a:r>
            <a:endParaRPr sz="1842">
              <a:latin typeface="Arial"/>
              <a:ea typeface="Arial"/>
              <a:cs typeface="Arial"/>
              <a:sym typeface="Arial"/>
            </a:endParaRPr>
          </a:p>
          <a:p>
            <a:pPr indent="-310515" lvl="1" marL="914400" rtl="0" algn="l">
              <a:spcBef>
                <a:spcPts val="0"/>
              </a:spcBef>
              <a:spcAft>
                <a:spcPts val="0"/>
              </a:spcAft>
              <a:buSzPct val="100000"/>
              <a:buFont typeface="Arial"/>
              <a:buChar char="○"/>
            </a:pPr>
            <a:r>
              <a:rPr lang="en" sz="1842">
                <a:latin typeface="Arial"/>
                <a:ea typeface="Arial"/>
                <a:cs typeface="Arial"/>
                <a:sym typeface="Arial"/>
              </a:rPr>
              <a:t>B (Benign) → 0</a:t>
            </a:r>
            <a:endParaRPr sz="1842">
              <a:latin typeface="Arial"/>
              <a:ea typeface="Arial"/>
              <a:cs typeface="Arial"/>
              <a:sym typeface="Arial"/>
            </a:endParaRPr>
          </a:p>
          <a:p>
            <a:pPr indent="-310515" lvl="1" marL="914400" rtl="0" algn="l">
              <a:spcBef>
                <a:spcPts val="0"/>
              </a:spcBef>
              <a:spcAft>
                <a:spcPts val="0"/>
              </a:spcAft>
              <a:buSzPct val="100000"/>
              <a:buFont typeface="Arial"/>
              <a:buChar char="○"/>
            </a:pPr>
            <a:r>
              <a:rPr lang="en" sz="1842">
                <a:latin typeface="Arial"/>
                <a:ea typeface="Arial"/>
                <a:cs typeface="Arial"/>
                <a:sym typeface="Arial"/>
              </a:rPr>
              <a:t>M (Malignant) → 1</a:t>
            </a:r>
            <a:endParaRPr sz="1842">
              <a:latin typeface="Arial"/>
              <a:ea typeface="Arial"/>
              <a:cs typeface="Arial"/>
              <a:sym typeface="Arial"/>
            </a:endParaRPr>
          </a:p>
          <a:p>
            <a:pPr indent="0" lvl="0" marL="0" rtl="0" algn="l">
              <a:spcBef>
                <a:spcPts val="400"/>
              </a:spcBef>
              <a:spcAft>
                <a:spcPts val="0"/>
              </a:spcAft>
              <a:buNone/>
            </a:pPr>
            <a:r>
              <a:rPr lang="en" sz="1842">
                <a:latin typeface="Arial"/>
                <a:ea typeface="Arial"/>
                <a:cs typeface="Arial"/>
                <a:sym typeface="Arial"/>
              </a:rPr>
              <a:t>Outlier detection:</a:t>
            </a:r>
            <a:endParaRPr sz="1842">
              <a:latin typeface="Arial"/>
              <a:ea typeface="Arial"/>
              <a:cs typeface="Arial"/>
              <a:sym typeface="Arial"/>
            </a:endParaRPr>
          </a:p>
          <a:p>
            <a:pPr indent="-310515" lvl="0" marL="457200" rtl="0" algn="l">
              <a:spcBef>
                <a:spcPts val="400"/>
              </a:spcBef>
              <a:spcAft>
                <a:spcPts val="0"/>
              </a:spcAft>
              <a:buSzPct val="100000"/>
              <a:buFont typeface="Arial"/>
              <a:buChar char="●"/>
            </a:pPr>
            <a:r>
              <a:rPr lang="en" sz="1842">
                <a:latin typeface="Arial"/>
                <a:ea typeface="Arial"/>
                <a:cs typeface="Arial"/>
                <a:sym typeface="Arial"/>
              </a:rPr>
              <a:t>We detected outliers in the data set and we dropped them.</a:t>
            </a:r>
            <a:endParaRPr sz="1842">
              <a:latin typeface="Arial"/>
              <a:ea typeface="Arial"/>
              <a:cs typeface="Arial"/>
              <a:sym typeface="Arial"/>
            </a:endParaRPr>
          </a:p>
          <a:p>
            <a:pPr indent="0" lvl="0" marL="0" rtl="0" algn="l">
              <a:spcBef>
                <a:spcPts val="400"/>
              </a:spcBef>
              <a:spcAft>
                <a:spcPts val="0"/>
              </a:spcAft>
              <a:buNone/>
            </a:pPr>
            <a:r>
              <a:t/>
            </a:r>
            <a:endParaRPr sz="1700">
              <a:latin typeface="Arial"/>
              <a:ea typeface="Arial"/>
              <a:cs typeface="Arial"/>
              <a:sym typeface="Arial"/>
            </a:endParaRPr>
          </a:p>
          <a:p>
            <a:pPr indent="0" lvl="0" marL="0" rtl="0" algn="l">
              <a:spcBef>
                <a:spcPts val="400"/>
              </a:spcBef>
              <a:spcAft>
                <a:spcPts val="0"/>
              </a:spcAft>
              <a:buNone/>
            </a:pPr>
            <a:r>
              <a:t/>
            </a:r>
            <a:endParaRPr sz="17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6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200">
                <a:latin typeface="Arial"/>
                <a:ea typeface="Arial"/>
                <a:cs typeface="Arial"/>
                <a:sym typeface="Arial"/>
              </a:rPr>
              <a:t>Step 3: Exploratory Data Analysis</a:t>
            </a:r>
            <a:endParaRPr sz="1760"/>
          </a:p>
        </p:txBody>
      </p:sp>
      <p:sp>
        <p:nvSpPr>
          <p:cNvPr id="160" name="Google Shape;160;p17"/>
          <p:cNvSpPr txBox="1"/>
          <p:nvPr>
            <p:ph idx="1" type="body"/>
          </p:nvPr>
        </p:nvSpPr>
        <p:spPr>
          <a:xfrm>
            <a:off x="1297500" y="1183400"/>
            <a:ext cx="7038900" cy="3295500"/>
          </a:xfrm>
          <a:prstGeom prst="rect">
            <a:avLst/>
          </a:prstGeom>
        </p:spPr>
        <p:txBody>
          <a:bodyPr anchorCtr="0" anchor="t" bIns="91425" lIns="91425" spcFirstLastPara="1" rIns="91425" wrap="square" tIns="91425">
            <a:normAutofit lnSpcReduction="20000"/>
          </a:bodyPr>
          <a:lstStyle/>
          <a:p>
            <a:pPr indent="0" lvl="0" marL="0" rtl="0" algn="l">
              <a:spcBef>
                <a:spcPts val="400"/>
              </a:spcBef>
              <a:spcAft>
                <a:spcPts val="0"/>
              </a:spcAft>
              <a:buNone/>
            </a:pPr>
            <a:r>
              <a:rPr lang="en" sz="1800">
                <a:latin typeface="Arial"/>
                <a:ea typeface="Arial"/>
                <a:cs typeface="Arial"/>
                <a:sym typeface="Arial"/>
              </a:rPr>
              <a:t>Analysis Performed:</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1. Class Distribution Analysis</a:t>
            </a:r>
            <a:endParaRPr sz="1800">
              <a:latin typeface="Arial"/>
              <a:ea typeface="Arial"/>
              <a:cs typeface="Arial"/>
              <a:sym typeface="Arial"/>
            </a:endParaRPr>
          </a:p>
          <a:p>
            <a:pPr indent="-342900" lvl="0" marL="457200" rtl="0" algn="l">
              <a:spcBef>
                <a:spcPts val="400"/>
              </a:spcBef>
              <a:spcAft>
                <a:spcPts val="0"/>
              </a:spcAft>
              <a:buSzPts val="1800"/>
              <a:buFont typeface="Arial"/>
              <a:buChar char="●"/>
            </a:pPr>
            <a:r>
              <a:rPr lang="en" sz="1800">
                <a:latin typeface="Arial"/>
                <a:ea typeface="Arial"/>
                <a:cs typeface="Arial"/>
                <a:sym typeface="Arial"/>
              </a:rPr>
              <a:t> Examined balance between Benign and Malignant cases</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 Found moderate imbalance (62.7% Benign, 37.3% Malignant)</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2. Feature Correlation Analysis</a:t>
            </a:r>
            <a:endParaRPr sz="1800">
              <a:latin typeface="Arial"/>
              <a:ea typeface="Arial"/>
              <a:cs typeface="Arial"/>
              <a:sym typeface="Arial"/>
            </a:endParaRPr>
          </a:p>
          <a:p>
            <a:pPr indent="-342900" lvl="0" marL="457200" rtl="0" algn="l">
              <a:spcBef>
                <a:spcPts val="400"/>
              </a:spcBef>
              <a:spcAft>
                <a:spcPts val="0"/>
              </a:spcAft>
              <a:buSzPts val="1800"/>
              <a:buFont typeface="Arial"/>
              <a:buChar char="●"/>
            </a:pPr>
            <a:r>
              <a:rPr lang="en" sz="1800">
                <a:latin typeface="Arial"/>
                <a:ea typeface="Arial"/>
                <a:cs typeface="Arial"/>
                <a:sym typeface="Arial"/>
              </a:rPr>
              <a:t>Identified features most correlated with diagnosis</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Analyzed multicollinearity among features</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3. Statistical Analysis</a:t>
            </a:r>
            <a:endParaRPr sz="1800">
              <a:latin typeface="Arial"/>
              <a:ea typeface="Arial"/>
              <a:cs typeface="Arial"/>
              <a:sym typeface="Arial"/>
            </a:endParaRPr>
          </a:p>
          <a:p>
            <a:pPr indent="-342900" lvl="0" marL="457200" rtl="0" algn="l">
              <a:spcBef>
                <a:spcPts val="400"/>
              </a:spcBef>
              <a:spcAft>
                <a:spcPts val="0"/>
              </a:spcAft>
              <a:buSzPts val="1800"/>
              <a:buFont typeface="Arial"/>
              <a:buChar char="●"/>
            </a:pPr>
            <a:r>
              <a:rPr lang="en" sz="1800">
                <a:latin typeface="Arial"/>
                <a:ea typeface="Arial"/>
                <a:cs typeface="Arial"/>
                <a:sym typeface="Arial"/>
              </a:rPr>
              <a:t>Computed descriptive statistics grouped by diagnosis</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Identified significant differences in feature distributions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1297500" y="393750"/>
            <a:ext cx="5533200" cy="618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31935"/>
              <a:buNone/>
            </a:pPr>
            <a:r>
              <a:rPr b="1" lang="en" sz="3100">
                <a:latin typeface="Arial"/>
                <a:ea typeface="Arial"/>
                <a:cs typeface="Arial"/>
                <a:sym typeface="Arial"/>
              </a:rPr>
              <a:t>Class Distribution Visualization</a:t>
            </a:r>
            <a:endParaRPr sz="1660"/>
          </a:p>
        </p:txBody>
      </p:sp>
      <p:sp>
        <p:nvSpPr>
          <p:cNvPr id="166" name="Google Shape;166;p18"/>
          <p:cNvSpPr txBox="1"/>
          <p:nvPr>
            <p:ph idx="1" type="body"/>
          </p:nvPr>
        </p:nvSpPr>
        <p:spPr>
          <a:xfrm>
            <a:off x="1777975" y="1011800"/>
            <a:ext cx="5424900" cy="39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18"/>
          <p:cNvPicPr preferRelativeResize="0"/>
          <p:nvPr/>
        </p:nvPicPr>
        <p:blipFill>
          <a:blip r:embed="rId3">
            <a:alphaModFix/>
          </a:blip>
          <a:stretch>
            <a:fillRect/>
          </a:stretch>
        </p:blipFill>
        <p:spPr>
          <a:xfrm>
            <a:off x="1770025" y="1011800"/>
            <a:ext cx="5424775" cy="3910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ph type="title"/>
          </p:nvPr>
        </p:nvSpPr>
        <p:spPr>
          <a:xfrm>
            <a:off x="1297500" y="99575"/>
            <a:ext cx="7038900" cy="6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00">
                <a:latin typeface="Arial"/>
                <a:ea typeface="Arial"/>
                <a:cs typeface="Arial"/>
                <a:sym typeface="Arial"/>
              </a:rPr>
              <a:t>Feature Correlation Analysis</a:t>
            </a:r>
            <a:endParaRPr sz="1560"/>
          </a:p>
        </p:txBody>
      </p:sp>
      <p:sp>
        <p:nvSpPr>
          <p:cNvPr id="173" name="Google Shape;173;p19"/>
          <p:cNvSpPr txBox="1"/>
          <p:nvPr>
            <p:ph idx="1" type="body"/>
          </p:nvPr>
        </p:nvSpPr>
        <p:spPr>
          <a:xfrm>
            <a:off x="1297500" y="975025"/>
            <a:ext cx="7038900" cy="350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19"/>
          <p:cNvPicPr preferRelativeResize="0"/>
          <p:nvPr/>
        </p:nvPicPr>
        <p:blipFill>
          <a:blip r:embed="rId3">
            <a:alphaModFix/>
          </a:blip>
          <a:stretch>
            <a:fillRect/>
          </a:stretch>
        </p:blipFill>
        <p:spPr>
          <a:xfrm>
            <a:off x="1127075" y="858350"/>
            <a:ext cx="7454076" cy="4068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97500" y="393750"/>
            <a:ext cx="7038900" cy="6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00">
                <a:latin typeface="Arial"/>
                <a:ea typeface="Arial"/>
                <a:cs typeface="Arial"/>
                <a:sym typeface="Arial"/>
              </a:rPr>
              <a:t>Step 4: DATA PREPROCESSING</a:t>
            </a:r>
            <a:endParaRPr sz="1560"/>
          </a:p>
        </p:txBody>
      </p:sp>
      <p:sp>
        <p:nvSpPr>
          <p:cNvPr id="180" name="Google Shape;180;p20"/>
          <p:cNvSpPr txBox="1"/>
          <p:nvPr>
            <p:ph idx="1" type="body"/>
          </p:nvPr>
        </p:nvSpPr>
        <p:spPr>
          <a:xfrm>
            <a:off x="1127075" y="1146625"/>
            <a:ext cx="7514400" cy="3659700"/>
          </a:xfrm>
          <a:prstGeom prst="rect">
            <a:avLst/>
          </a:prstGeom>
        </p:spPr>
        <p:txBody>
          <a:bodyPr anchorCtr="0" anchor="t" bIns="91425" lIns="91425" spcFirstLastPara="1" rIns="91425" wrap="square" tIns="91425">
            <a:normAutofit fontScale="77500" lnSpcReduction="20000"/>
          </a:bodyPr>
          <a:lstStyle/>
          <a:p>
            <a:pPr indent="0" lvl="0" marL="0" rtl="0" algn="l">
              <a:spcBef>
                <a:spcPts val="400"/>
              </a:spcBef>
              <a:spcAft>
                <a:spcPts val="0"/>
              </a:spcAft>
              <a:buNone/>
            </a:pPr>
            <a:r>
              <a:rPr lang="en" sz="1800">
                <a:latin typeface="Arial"/>
                <a:ea typeface="Arial"/>
                <a:cs typeface="Arial"/>
                <a:sym typeface="Arial"/>
              </a:rPr>
              <a:t>Preparation of data for model building:</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To prepare the data, we first dropped 7 features that were highly </a:t>
            </a:r>
            <a:r>
              <a:rPr lang="en" sz="1800">
                <a:latin typeface="Arial"/>
                <a:ea typeface="Arial"/>
                <a:cs typeface="Arial"/>
                <a:sym typeface="Arial"/>
              </a:rPr>
              <a:t>correlated</a:t>
            </a:r>
            <a:r>
              <a:rPr lang="en" sz="1800">
                <a:latin typeface="Arial"/>
                <a:ea typeface="Arial"/>
                <a:cs typeface="Arial"/>
                <a:sym typeface="Arial"/>
              </a:rPr>
              <a:t> after checking for correlation and we remained with 23 features for predictions. </a:t>
            </a:r>
            <a:endParaRPr sz="1800">
              <a:latin typeface="Arial"/>
              <a:ea typeface="Arial"/>
              <a:cs typeface="Arial"/>
              <a:sym typeface="Arial"/>
            </a:endParaRPr>
          </a:p>
          <a:p>
            <a:pPr indent="0" lvl="0" marL="457200" rtl="0" algn="l">
              <a:spcBef>
                <a:spcPts val="400"/>
              </a:spcBef>
              <a:spcAft>
                <a:spcPts val="0"/>
              </a:spcAft>
              <a:buNone/>
            </a:pPr>
            <a:r>
              <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We fixed the class imbalance using SMOTE technique which is (Synthetic Minority Oversampling Technique) which creates new </a:t>
            </a:r>
            <a:r>
              <a:rPr lang="en" sz="1800">
                <a:latin typeface="Arial"/>
                <a:ea typeface="Arial"/>
                <a:cs typeface="Arial"/>
                <a:sym typeface="Arial"/>
              </a:rPr>
              <a:t>synthetic</a:t>
            </a:r>
            <a:r>
              <a:rPr lang="en" sz="1800">
                <a:latin typeface="Arial"/>
                <a:ea typeface="Arial"/>
                <a:cs typeface="Arial"/>
                <a:sym typeface="Arial"/>
              </a:rPr>
              <a:t> samples for the minority class where it finds its nearest neighbour and generate new points between them.</a:t>
            </a:r>
            <a:endParaRPr sz="1800">
              <a:latin typeface="Arial"/>
              <a:ea typeface="Arial"/>
              <a:cs typeface="Arial"/>
              <a:sym typeface="Arial"/>
            </a:endParaRPr>
          </a:p>
          <a:p>
            <a:pPr indent="0" lvl="0" marL="0" rtl="0" algn="l">
              <a:spcBef>
                <a:spcPts val="400"/>
              </a:spcBef>
              <a:spcAft>
                <a:spcPts val="0"/>
              </a:spcAft>
              <a:buNone/>
            </a:pPr>
            <a:r>
              <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Feature scaling, we </a:t>
            </a:r>
            <a:r>
              <a:rPr lang="en" sz="1800">
                <a:latin typeface="Arial"/>
                <a:ea typeface="Arial"/>
                <a:cs typeface="Arial"/>
                <a:sym typeface="Arial"/>
              </a:rPr>
              <a:t>performed</a:t>
            </a:r>
            <a:r>
              <a:rPr lang="en" sz="1800">
                <a:latin typeface="Arial"/>
                <a:ea typeface="Arial"/>
                <a:cs typeface="Arial"/>
                <a:sym typeface="Arial"/>
              </a:rPr>
              <a:t> standardization of the data so that the features share a similar range so as to prevent variables with larger values dominate the model.</a:t>
            </a:r>
            <a:endParaRPr sz="1800">
              <a:latin typeface="Arial"/>
              <a:ea typeface="Arial"/>
              <a:cs typeface="Arial"/>
              <a:sym typeface="Arial"/>
            </a:endParaRPr>
          </a:p>
          <a:p>
            <a:pPr indent="0" lvl="0" marL="0" rtl="0" algn="l">
              <a:spcBef>
                <a:spcPts val="400"/>
              </a:spcBef>
              <a:spcAft>
                <a:spcPts val="0"/>
              </a:spcAft>
              <a:buNone/>
            </a:pPr>
            <a:r>
              <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We also split the data into 80% for training and reserve 20% for testing the performance of the model.</a:t>
            </a:r>
            <a:endParaRPr sz="1800">
              <a:latin typeface="Arial"/>
              <a:ea typeface="Arial"/>
              <a:cs typeface="Arial"/>
              <a:sym typeface="Arial"/>
            </a:endParaRPr>
          </a:p>
          <a:p>
            <a:pPr indent="0" lvl="0" marL="457200" rtl="0" algn="l">
              <a:spcBef>
                <a:spcPts val="400"/>
              </a:spcBef>
              <a:spcAft>
                <a:spcPts val="0"/>
              </a:spcAft>
              <a:buNone/>
            </a:pPr>
            <a:r>
              <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1297500" y="393750"/>
            <a:ext cx="7038900" cy="6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860"/>
              <a:t>The graph displays the </a:t>
            </a:r>
            <a:r>
              <a:rPr lang="en" sz="1860"/>
              <a:t>overall</a:t>
            </a:r>
            <a:r>
              <a:rPr lang="en" sz="1860"/>
              <a:t> data usage for this project</a:t>
            </a:r>
            <a:endParaRPr sz="1860"/>
          </a:p>
        </p:txBody>
      </p:sp>
      <p:pic>
        <p:nvPicPr>
          <p:cNvPr id="186" name="Google Shape;186;p21"/>
          <p:cNvPicPr preferRelativeResize="0"/>
          <p:nvPr/>
        </p:nvPicPr>
        <p:blipFill>
          <a:blip r:embed="rId3">
            <a:alphaModFix/>
          </a:blip>
          <a:stretch>
            <a:fillRect/>
          </a:stretch>
        </p:blipFill>
        <p:spPr>
          <a:xfrm>
            <a:off x="1629375" y="1049250"/>
            <a:ext cx="5464975" cy="3696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1297500" y="393750"/>
            <a:ext cx="7038900" cy="655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200">
                <a:latin typeface="Arial"/>
                <a:ea typeface="Arial"/>
                <a:cs typeface="Arial"/>
                <a:sym typeface="Arial"/>
              </a:rPr>
              <a:t>Step 5: MODEL BUILDING</a:t>
            </a:r>
            <a:endParaRPr sz="1600"/>
          </a:p>
        </p:txBody>
      </p:sp>
      <p:sp>
        <p:nvSpPr>
          <p:cNvPr id="192" name="Google Shape;192;p22"/>
          <p:cNvSpPr txBox="1"/>
          <p:nvPr>
            <p:ph idx="1" type="body"/>
          </p:nvPr>
        </p:nvSpPr>
        <p:spPr>
          <a:xfrm>
            <a:off x="1297500" y="1310300"/>
            <a:ext cx="7038900" cy="3168600"/>
          </a:xfrm>
          <a:prstGeom prst="rect">
            <a:avLst/>
          </a:prstGeom>
        </p:spPr>
        <p:txBody>
          <a:bodyPr anchorCtr="0" anchor="t" bIns="91425" lIns="91425" spcFirstLastPara="1" rIns="91425" wrap="square" tIns="91425">
            <a:normAutofit fontScale="25000" lnSpcReduction="20000"/>
          </a:bodyPr>
          <a:lstStyle/>
          <a:p>
            <a:pPr indent="0" lvl="0" marL="0" rtl="0" algn="l">
              <a:spcBef>
                <a:spcPts val="400"/>
              </a:spcBef>
              <a:spcAft>
                <a:spcPts val="0"/>
              </a:spcAft>
              <a:buNone/>
            </a:pPr>
            <a:r>
              <a:rPr lang="en" sz="6500">
                <a:latin typeface="Arial"/>
                <a:ea typeface="Arial"/>
                <a:cs typeface="Arial"/>
                <a:sym typeface="Arial"/>
              </a:rPr>
              <a:t>We build 4vdifferent models for this project that is Logistic regression, Random Forest, XGBoost classifier and CatBoost Classifier and choose the best model based on the accuracy values. Logistic regression performed quite well wiih high accuracy score compare to the three of them.</a:t>
            </a:r>
            <a:endParaRPr sz="4761">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            MODEL                  │   ACCURACY   </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 Logistic Regression           │    0.985185   │</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 XGBoost                            │    0.970370   │</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 CatBoost                            │    0.970370   │</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 Random Forest                  │    0.955556   │</a:t>
            </a:r>
            <a:endParaRPr sz="5300">
              <a:latin typeface="Arial"/>
              <a:ea typeface="Arial"/>
              <a:cs typeface="Arial"/>
              <a:sym typeface="Arial"/>
            </a:endParaRPr>
          </a:p>
          <a:p>
            <a:pPr indent="0" lvl="0" marL="0" rtl="0" algn="l">
              <a:spcBef>
                <a:spcPts val="400"/>
              </a:spcBef>
              <a:spcAft>
                <a:spcPts val="0"/>
              </a:spcAft>
              <a:buNone/>
            </a:pPr>
            <a:r>
              <a:rPr lang="en" sz="5300">
                <a:latin typeface="Arial"/>
                <a:ea typeface="Arial"/>
                <a:cs typeface="Arial"/>
                <a:sym typeface="Arial"/>
              </a:rPr>
              <a:t>└───────────────────────────────</a:t>
            </a:r>
            <a:endParaRPr sz="5300">
              <a:latin typeface="Arial"/>
              <a:ea typeface="Arial"/>
              <a:cs typeface="Arial"/>
              <a:sym typeface="Arial"/>
            </a:endParaRPr>
          </a:p>
          <a:p>
            <a:pPr indent="0" lvl="0" marL="0" rtl="0" algn="l">
              <a:spcBef>
                <a:spcPts val="400"/>
              </a:spcBef>
              <a:spcAft>
                <a:spcPts val="0"/>
              </a:spcAft>
              <a:buNone/>
            </a:pPr>
            <a:r>
              <a:t/>
            </a:r>
            <a:endParaRPr sz="1800">
              <a:latin typeface="Arial"/>
              <a:ea typeface="Arial"/>
              <a:cs typeface="Arial"/>
              <a:sym typeface="Arial"/>
            </a:endParaRPr>
          </a:p>
          <a:p>
            <a:pPr indent="0" lvl="0" marL="0" rtl="0" algn="l">
              <a:spcBef>
                <a:spcPts val="400"/>
              </a:spcBef>
              <a:spcAft>
                <a:spcPts val="0"/>
              </a:spcAft>
              <a:buNone/>
            </a:pPr>
            <a:r>
              <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1297500" y="393750"/>
            <a:ext cx="7038900" cy="75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3100">
                <a:latin typeface="Arial"/>
                <a:ea typeface="Arial"/>
                <a:cs typeface="Arial"/>
                <a:sym typeface="Arial"/>
              </a:rPr>
              <a:t>Model selection</a:t>
            </a:r>
            <a:endParaRPr sz="1660"/>
          </a:p>
        </p:txBody>
      </p:sp>
      <p:sp>
        <p:nvSpPr>
          <p:cNvPr id="198" name="Google Shape;198;p23"/>
          <p:cNvSpPr txBox="1"/>
          <p:nvPr>
            <p:ph idx="1" type="body"/>
          </p:nvPr>
        </p:nvSpPr>
        <p:spPr>
          <a:xfrm>
            <a:off x="1297500" y="987275"/>
            <a:ext cx="7038900" cy="384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t>After checking the accuracy of the model, we decided to select XGBoost classifier over logistic regression since the accuracy of logistic regression was almost 99% which can lead to overfitting and also logistic regression has the limitation generalizing and can cost us with missclassification. The other strength of XGboost classifier is that it can capture complex non linear patterns and it is robust. The field of medical diagnosis is sentitive and it needs robust models for accurate predictions.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1297500" y="393750"/>
            <a:ext cx="7038900" cy="67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4000">
                <a:latin typeface="Arial"/>
                <a:ea typeface="Arial"/>
                <a:cs typeface="Arial"/>
                <a:sym typeface="Arial"/>
              </a:rPr>
              <a:t>Model prediction</a:t>
            </a:r>
            <a:endParaRPr/>
          </a:p>
        </p:txBody>
      </p:sp>
      <p:sp>
        <p:nvSpPr>
          <p:cNvPr id="204" name="Google Shape;204;p24"/>
          <p:cNvSpPr txBox="1"/>
          <p:nvPr>
            <p:ph idx="1" type="body"/>
          </p:nvPr>
        </p:nvSpPr>
        <p:spPr>
          <a:xfrm>
            <a:off x="6933600" y="1065450"/>
            <a:ext cx="2049300" cy="3413100"/>
          </a:xfrm>
          <a:prstGeom prst="rect">
            <a:avLst/>
          </a:prstGeom>
        </p:spPr>
        <p:txBody>
          <a:bodyPr anchorCtr="0" anchor="t" bIns="91425" lIns="91425" spcFirstLastPara="1" rIns="91425" wrap="square" tIns="91425">
            <a:normAutofit lnSpcReduction="10000"/>
          </a:bodyPr>
          <a:lstStyle/>
          <a:p>
            <a:pPr indent="0" lvl="0" marL="0" rtl="0" algn="l">
              <a:spcBef>
                <a:spcPts val="400"/>
              </a:spcBef>
              <a:spcAft>
                <a:spcPts val="0"/>
              </a:spcAft>
              <a:buNone/>
            </a:pPr>
            <a:r>
              <a:rPr lang="en" sz="1800">
                <a:latin typeface="Arial"/>
                <a:ea typeface="Arial"/>
                <a:cs typeface="Arial"/>
                <a:sym typeface="Arial"/>
              </a:rPr>
              <a:t>The confusion matrix shows the actual vs the predicted values. This shows how the values were predicted and we can also get the accuracy of the model also.</a:t>
            </a:r>
            <a:endParaRPr sz="1800">
              <a:latin typeface="Arial"/>
              <a:ea typeface="Arial"/>
              <a:cs typeface="Arial"/>
              <a:sym typeface="Arial"/>
            </a:endParaRPr>
          </a:p>
          <a:p>
            <a:pPr indent="0" lvl="0" marL="0" rtl="0" algn="l">
              <a:spcBef>
                <a:spcPts val="0"/>
              </a:spcBef>
              <a:spcAft>
                <a:spcPts val="1200"/>
              </a:spcAft>
              <a:buNone/>
            </a:pPr>
            <a:r>
              <a:t/>
            </a:r>
            <a:endParaRPr/>
          </a:p>
        </p:txBody>
      </p:sp>
      <p:pic>
        <p:nvPicPr>
          <p:cNvPr id="205" name="Google Shape;205;p24"/>
          <p:cNvPicPr preferRelativeResize="0"/>
          <p:nvPr/>
        </p:nvPicPr>
        <p:blipFill>
          <a:blip r:embed="rId3">
            <a:alphaModFix/>
          </a:blip>
          <a:stretch>
            <a:fillRect/>
          </a:stretch>
        </p:blipFill>
        <p:spPr>
          <a:xfrm>
            <a:off x="1187350" y="1065475"/>
            <a:ext cx="5585525" cy="3901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1297500" y="393750"/>
            <a:ext cx="7038900" cy="61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200">
                <a:latin typeface="Arial"/>
                <a:ea typeface="Arial"/>
                <a:cs typeface="Arial"/>
                <a:sym typeface="Arial"/>
              </a:rPr>
              <a:t>Conclusion &amp; Impact</a:t>
            </a:r>
            <a:endParaRPr sz="1600"/>
          </a:p>
        </p:txBody>
      </p:sp>
      <p:sp>
        <p:nvSpPr>
          <p:cNvPr id="211" name="Google Shape;211;p25"/>
          <p:cNvSpPr txBox="1"/>
          <p:nvPr>
            <p:ph idx="1" type="body"/>
          </p:nvPr>
        </p:nvSpPr>
        <p:spPr>
          <a:xfrm>
            <a:off x="1297500" y="1109375"/>
            <a:ext cx="7263600" cy="36165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SzPts val="275"/>
              <a:buNone/>
            </a:pPr>
            <a:r>
              <a:rPr b="1" lang="en" sz="1319">
                <a:latin typeface="Arial"/>
                <a:ea typeface="Arial"/>
                <a:cs typeface="Arial"/>
                <a:sym typeface="Arial"/>
              </a:rPr>
              <a:t>Summary:</a:t>
            </a:r>
            <a:endParaRPr b="1" sz="1319">
              <a:latin typeface="Arial"/>
              <a:ea typeface="Arial"/>
              <a:cs typeface="Arial"/>
              <a:sym typeface="Arial"/>
            </a:endParaRPr>
          </a:p>
          <a:p>
            <a:pPr indent="-312392" lvl="0" marL="457200" rtl="0" algn="l">
              <a:spcBef>
                <a:spcPts val="400"/>
              </a:spcBef>
              <a:spcAft>
                <a:spcPts val="0"/>
              </a:spcAft>
              <a:buSzPts val="1320"/>
              <a:buFont typeface="Arial"/>
              <a:buChar char="●"/>
            </a:pPr>
            <a:r>
              <a:rPr lang="en" sz="1319">
                <a:latin typeface="Arial"/>
                <a:ea typeface="Arial"/>
                <a:cs typeface="Arial"/>
                <a:sym typeface="Arial"/>
              </a:rPr>
              <a:t>The Dataset was quiet small totalling around 569 samples &amp;after preprocessing 9% of the data samples were dropped. The samples were slightly imbalanced after processing, hence SMOTE Technique was applied on the data to balance the classes, adding 23.2% more samples to the dataset. Visualising the distribution of data &amp; their relationships, helped us to get some insights on the relationship between the feature-set. Feature Selection/Eliminination was carried out and appropriate features were shortlisted.Testing multiple algorithms with fine-tuning hyperparamters gave us some understanding on the model performance for various algorithms on this specific dataset.</a:t>
            </a:r>
            <a:endParaRPr sz="1319">
              <a:latin typeface="Arial"/>
              <a:ea typeface="Arial"/>
              <a:cs typeface="Arial"/>
              <a:sym typeface="Arial"/>
            </a:endParaRPr>
          </a:p>
          <a:p>
            <a:pPr indent="0" lvl="0" marL="0" rtl="0" algn="l">
              <a:spcBef>
                <a:spcPts val="400"/>
              </a:spcBef>
              <a:spcAft>
                <a:spcPts val="0"/>
              </a:spcAft>
              <a:buSzPts val="275"/>
              <a:buNone/>
            </a:pPr>
            <a:r>
              <a:rPr b="1" lang="en" sz="1319">
                <a:latin typeface="Arial"/>
                <a:ea typeface="Arial"/>
                <a:cs typeface="Arial"/>
                <a:sym typeface="Arial"/>
              </a:rPr>
              <a:t>Conclusion</a:t>
            </a:r>
            <a:endParaRPr b="1" sz="1319">
              <a:latin typeface="Arial"/>
              <a:ea typeface="Arial"/>
              <a:cs typeface="Arial"/>
              <a:sym typeface="Arial"/>
            </a:endParaRPr>
          </a:p>
          <a:p>
            <a:pPr indent="-312392" lvl="0" marL="457200" rtl="0" algn="l">
              <a:spcBef>
                <a:spcPts val="1200"/>
              </a:spcBef>
              <a:spcAft>
                <a:spcPts val="0"/>
              </a:spcAft>
              <a:buSzPts val="1320"/>
              <a:buFont typeface="Arial"/>
              <a:buChar char="●"/>
            </a:pPr>
            <a:r>
              <a:rPr lang="en" sz="1319">
                <a:latin typeface="Arial"/>
                <a:ea typeface="Arial"/>
                <a:cs typeface="Arial"/>
                <a:sym typeface="Arial"/>
              </a:rPr>
              <a:t>After preprocessing the dataset with SMOTE and selecting the most relevant features, we tested multiple models to understand their performance. Although Logistic Regression showed high accuracy, the problem required deeper pattern detection. We therefore chose XGBoost, as it minimizes misclassification risks in this sensitive field.</a:t>
            </a:r>
            <a:endParaRPr sz="1319">
              <a:latin typeface="Arial"/>
              <a:ea typeface="Arial"/>
              <a:cs typeface="Arial"/>
              <a:sym typeface="Arial"/>
            </a:endParaRPr>
          </a:p>
          <a:p>
            <a:pPr indent="0" lvl="0" marL="457200" rtl="0" algn="l">
              <a:spcBef>
                <a:spcPts val="1200"/>
              </a:spcBef>
              <a:spcAft>
                <a:spcPts val="0"/>
              </a:spcAft>
              <a:buSzPts val="275"/>
              <a:buNone/>
            </a:pPr>
            <a:r>
              <a:t/>
            </a:r>
            <a:endParaRPr sz="450">
              <a:latin typeface="Arial"/>
              <a:ea typeface="Arial"/>
              <a:cs typeface="Arial"/>
              <a:sym typeface="Arial"/>
            </a:endParaRPr>
          </a:p>
          <a:p>
            <a:pPr indent="0" lvl="0" marL="0" rtl="0" algn="l">
              <a:spcBef>
                <a:spcPts val="0"/>
              </a:spcBef>
              <a:spcAft>
                <a:spcPts val="1200"/>
              </a:spcAft>
              <a:buSzPts val="275"/>
              <a:buNone/>
            </a:pPr>
            <a:r>
              <a:t/>
            </a:r>
            <a:endParaRPr sz="32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4000">
                <a:latin typeface="Arial"/>
                <a:ea typeface="Arial"/>
                <a:cs typeface="Arial"/>
                <a:sym typeface="Arial"/>
              </a:rPr>
              <a:t>Future Work &amp; Improvements</a:t>
            </a:r>
            <a:endParaRPr/>
          </a:p>
        </p:txBody>
      </p:sp>
      <p:sp>
        <p:nvSpPr>
          <p:cNvPr id="217" name="Google Shape;217;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20000"/>
          </a:bodyPr>
          <a:lstStyle/>
          <a:p>
            <a:pPr indent="0" lvl="0" marL="0" rtl="0" algn="l">
              <a:spcBef>
                <a:spcPts val="400"/>
              </a:spcBef>
              <a:spcAft>
                <a:spcPts val="0"/>
              </a:spcAft>
              <a:buNone/>
            </a:pPr>
            <a:r>
              <a:rPr lang="en" sz="1800">
                <a:latin typeface="Arial"/>
                <a:ea typeface="Arial"/>
                <a:cs typeface="Arial"/>
                <a:sym typeface="Arial"/>
              </a:rPr>
              <a:t>Next Steps:</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Model Enhancement:</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Hyperparameter tuning using GridSearchCV or RandomizedSearchCV</a:t>
            </a:r>
            <a:endParaRPr sz="1800">
              <a:latin typeface="Arial"/>
              <a:ea typeface="Arial"/>
              <a:cs typeface="Arial"/>
              <a:sym typeface="Arial"/>
            </a:endParaRPr>
          </a:p>
          <a:p>
            <a:pPr indent="-317182" lvl="0" marL="457200" rtl="0" algn="l">
              <a:spcBef>
                <a:spcPts val="0"/>
              </a:spcBef>
              <a:spcAft>
                <a:spcPts val="0"/>
              </a:spcAft>
              <a:buSzPct val="100000"/>
              <a:buFont typeface="Arial"/>
              <a:buChar char="●"/>
            </a:pPr>
            <a:r>
              <a:rPr lang="en" sz="1800">
                <a:latin typeface="Arial"/>
                <a:ea typeface="Arial"/>
                <a:cs typeface="Arial"/>
                <a:sym typeface="Arial"/>
              </a:rPr>
              <a:t>Test additional algorithms: SVM, Neural Networks…..</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Feature Engineering:</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Feature selection to identify most important predictors</a:t>
            </a:r>
            <a:endParaRPr sz="1800">
              <a:latin typeface="Arial"/>
              <a:ea typeface="Arial"/>
              <a:cs typeface="Arial"/>
              <a:sym typeface="Arial"/>
            </a:endParaRPr>
          </a:p>
          <a:p>
            <a:pPr indent="-317182" lvl="0" marL="457200" rtl="0" algn="l">
              <a:spcBef>
                <a:spcPts val="0"/>
              </a:spcBef>
              <a:spcAft>
                <a:spcPts val="0"/>
              </a:spcAft>
              <a:buSzPct val="100000"/>
              <a:buFont typeface="Arial"/>
              <a:buChar char="●"/>
            </a:pPr>
            <a:r>
              <a:rPr lang="en" sz="1800">
                <a:latin typeface="Arial"/>
                <a:ea typeface="Arial"/>
                <a:cs typeface="Arial"/>
                <a:sym typeface="Arial"/>
              </a:rPr>
              <a:t>Dimensionality reduction (PCA) for efficiency</a:t>
            </a:r>
            <a:endParaRPr sz="1800">
              <a:latin typeface="Arial"/>
              <a:ea typeface="Arial"/>
              <a:cs typeface="Arial"/>
              <a:sym typeface="Arial"/>
            </a:endParaRPr>
          </a:p>
          <a:p>
            <a:pPr indent="0" lvl="0" marL="0" rtl="0" algn="l">
              <a:spcBef>
                <a:spcPts val="400"/>
              </a:spcBef>
              <a:spcAft>
                <a:spcPts val="0"/>
              </a:spcAft>
              <a:buNone/>
            </a:pPr>
            <a:r>
              <a:rPr lang="en" sz="1800">
                <a:latin typeface="Arial"/>
                <a:ea typeface="Arial"/>
                <a:cs typeface="Arial"/>
                <a:sym typeface="Arial"/>
              </a:rPr>
              <a:t>Deployment:</a:t>
            </a:r>
            <a:endParaRPr sz="1800">
              <a:latin typeface="Arial"/>
              <a:ea typeface="Arial"/>
              <a:cs typeface="Arial"/>
              <a:sym typeface="Arial"/>
            </a:endParaRPr>
          </a:p>
          <a:p>
            <a:pPr indent="-317182" lvl="0" marL="457200" rtl="0" algn="l">
              <a:spcBef>
                <a:spcPts val="400"/>
              </a:spcBef>
              <a:spcAft>
                <a:spcPts val="0"/>
              </a:spcAft>
              <a:buSzPct val="100000"/>
              <a:buFont typeface="Arial"/>
              <a:buChar char="●"/>
            </a:pPr>
            <a:r>
              <a:rPr lang="en" sz="1800">
                <a:latin typeface="Arial"/>
                <a:ea typeface="Arial"/>
                <a:cs typeface="Arial"/>
                <a:sym typeface="Arial"/>
              </a:rPr>
              <a:t>Create web application for easy access</a:t>
            </a:r>
            <a:endParaRPr sz="1800">
              <a:latin typeface="Arial"/>
              <a:ea typeface="Arial"/>
              <a:cs typeface="Arial"/>
              <a:sym typeface="Arial"/>
            </a:endParaRPr>
          </a:p>
          <a:p>
            <a:pPr indent="-317182" lvl="0" marL="457200" rtl="0" algn="l">
              <a:spcBef>
                <a:spcPts val="0"/>
              </a:spcBef>
              <a:spcAft>
                <a:spcPts val="0"/>
              </a:spcAft>
              <a:buSzPct val="100000"/>
              <a:buFont typeface="Arial"/>
              <a:buChar char="●"/>
            </a:pPr>
            <a:r>
              <a:rPr lang="en" sz="1800">
                <a:latin typeface="Arial"/>
                <a:ea typeface="Arial"/>
                <a:cs typeface="Arial"/>
                <a:sym typeface="Arial"/>
              </a:rPr>
              <a:t>Develop API for integration with medical systems</a:t>
            </a:r>
            <a:endParaRPr sz="1800">
              <a:latin typeface="Arial"/>
              <a:ea typeface="Arial"/>
              <a:cs typeface="Arial"/>
              <a:sym typeface="Arial"/>
            </a:endParaRPr>
          </a:p>
          <a:p>
            <a:pPr indent="-317182" lvl="0" marL="457200" rtl="0" algn="l">
              <a:spcBef>
                <a:spcPts val="0"/>
              </a:spcBef>
              <a:spcAft>
                <a:spcPts val="0"/>
              </a:spcAft>
              <a:buSzPct val="100000"/>
              <a:buFont typeface="Arial"/>
              <a:buChar char="●"/>
            </a:pPr>
            <a:r>
              <a:rPr lang="en" sz="1800">
                <a:latin typeface="Arial"/>
                <a:ea typeface="Arial"/>
                <a:cs typeface="Arial"/>
                <a:sym typeface="Arial"/>
              </a:rPr>
              <a:t>Mobile app for point-of-care diagnosis</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1297500" y="393750"/>
            <a:ext cx="7038900" cy="9543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5000"/>
              <a:t>               END</a:t>
            </a:r>
            <a:endParaRPr b="1" sz="5000"/>
          </a:p>
        </p:txBody>
      </p:sp>
      <p:sp>
        <p:nvSpPr>
          <p:cNvPr id="223" name="Google Shape;223;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6000">
                <a:latin typeface="Arial"/>
                <a:ea typeface="Arial"/>
                <a:cs typeface="Arial"/>
                <a:sym typeface="Arial"/>
              </a:rPr>
              <a:t>Thank You</a:t>
            </a:r>
            <a:endParaRPr b="1" sz="6000">
              <a:latin typeface="Arial"/>
              <a:ea typeface="Arial"/>
              <a:cs typeface="Arial"/>
              <a:sym typeface="Arial"/>
            </a:endParaRPr>
          </a:p>
          <a:p>
            <a:pPr indent="0" lvl="0" marL="0" rtl="0" algn="l">
              <a:spcBef>
                <a:spcPts val="0"/>
              </a:spcBef>
              <a:spcAft>
                <a:spcPts val="0"/>
              </a:spcAft>
              <a:buNone/>
            </a:pPr>
            <a:br>
              <a:rPr b="1" lang="en" sz="6000">
                <a:latin typeface="Arial"/>
                <a:ea typeface="Arial"/>
                <a:cs typeface="Arial"/>
                <a:sym typeface="Arial"/>
              </a:rPr>
            </a:br>
            <a:r>
              <a:rPr lang="en" sz="1800">
                <a:latin typeface="Arial"/>
                <a:ea typeface="Arial"/>
                <a:cs typeface="Arial"/>
                <a:sym typeface="Arial"/>
              </a:rPr>
              <a:t> 					I welcome any questions </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