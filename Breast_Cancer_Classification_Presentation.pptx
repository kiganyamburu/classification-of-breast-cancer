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8" d="100"/>
          <a:sy n="88" d="100"/>
        </p:scale>
        <p:origin x="2280" y="6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defRPr sz="5400"/>
            </a:pPr>
            <a:r>
              <a:rPr dirty="0"/>
              <a:t>Breast Cancer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617617"/>
          </a:xfrm>
        </p:spPr>
        <p:txBody>
          <a:bodyPr/>
          <a:lstStyle/>
          <a:p>
            <a:pPr>
              <a:defRPr sz="2400"/>
            </a:pPr>
            <a:r>
              <a:rPr dirty="0"/>
              <a:t>Machine Learning Capstone Project</a:t>
            </a:r>
          </a:p>
          <a:p>
            <a:r>
              <a:rPr dirty="0"/>
              <a:t>Predicting Malignant vs Benign Tumors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What are we solving?</a:t>
            </a:r>
          </a:p>
          <a:p>
            <a:pPr>
              <a:defRPr sz="1800"/>
            </a:pPr>
            <a:r>
              <a:rPr dirty="0"/>
              <a:t>• Automated classification of breast tumors as Benign or Malignant based on cell measurements</a:t>
            </a:r>
          </a:p>
          <a:p>
            <a:pPr>
              <a:defRPr sz="1800"/>
            </a:pPr>
            <a:r>
              <a:rPr dirty="0"/>
              <a:t>Why does it matter?</a:t>
            </a:r>
          </a:p>
          <a:p>
            <a:pPr>
              <a:defRPr sz="1800"/>
            </a:pPr>
            <a:r>
              <a:rPr dirty="0"/>
              <a:t>• Breast cancer is one of the most common cancers affecting women worldwide</a:t>
            </a:r>
          </a:p>
          <a:p>
            <a:pPr>
              <a:defRPr sz="1800"/>
            </a:pPr>
            <a:r>
              <a:rPr dirty="0"/>
              <a:t>• Early and accurate diagnosis significantly improves survival rates (99% for early detection)</a:t>
            </a:r>
          </a:p>
          <a:p>
            <a:pPr>
              <a:defRPr sz="1800"/>
            </a:pPr>
            <a:r>
              <a:rPr dirty="0"/>
              <a:t>• Manual diagnosis can be time-consuming and subjective</a:t>
            </a:r>
          </a:p>
          <a:p>
            <a:pPr>
              <a:defRPr sz="1800"/>
            </a:pPr>
            <a:r>
              <a:rPr dirty="0"/>
              <a:t>Real-world impact:</a:t>
            </a:r>
          </a:p>
          <a:p>
            <a:pPr>
              <a:defRPr sz="1800"/>
            </a:pPr>
            <a:r>
              <a:rPr dirty="0"/>
              <a:t>• Assists medical professionals in making faster, data-driven decisions</a:t>
            </a:r>
          </a:p>
          <a:p>
            <a:pPr>
              <a:defRPr sz="1800"/>
            </a:pPr>
            <a:r>
              <a:rPr dirty="0"/>
              <a:t>• Reduces diagnostic errors and improves patient outcomes</a:t>
            </a:r>
          </a:p>
          <a:p>
            <a:pPr>
              <a:defRPr sz="1800"/>
            </a:pPr>
            <a:r>
              <a:rPr dirty="0"/>
              <a:t>• Supports screening programs in resource-limited settings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rPr dirty="0"/>
              <a:t>Step 1: Data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Data Source:</a:t>
            </a:r>
          </a:p>
          <a:p>
            <a:pPr>
              <a:defRPr sz="1800"/>
            </a:pPr>
            <a:r>
              <a:rPr dirty="0"/>
              <a:t>• Breast Cancer Wisconsin (Diagnostic) Dataset</a:t>
            </a:r>
          </a:p>
          <a:p>
            <a:pPr>
              <a:defRPr sz="1800"/>
            </a:pPr>
            <a:r>
              <a:rPr dirty="0"/>
              <a:t>• UCI Machine Learning Repository</a:t>
            </a:r>
          </a:p>
          <a:p>
            <a:pPr>
              <a:defRPr sz="1800"/>
            </a:pPr>
            <a:r>
              <a:rPr dirty="0"/>
              <a:t>Dataset Characteristics:</a:t>
            </a:r>
          </a:p>
          <a:p>
            <a:pPr>
              <a:defRPr sz="1800"/>
            </a:pPr>
            <a:r>
              <a:rPr dirty="0"/>
              <a:t>• 569 samples (357 Benign, 212 Malignant)</a:t>
            </a:r>
          </a:p>
          <a:p>
            <a:pPr>
              <a:defRPr sz="1800"/>
            </a:pPr>
            <a:r>
              <a:rPr dirty="0"/>
              <a:t>• 30 numeric features derived from digitized images of Fine Needle Aspirate (FNA)</a:t>
            </a:r>
          </a:p>
          <a:p>
            <a:pPr>
              <a:defRPr sz="1800"/>
            </a:pPr>
            <a:r>
              <a:rPr dirty="0"/>
              <a:t>• Features computed for each cell nucleus: radius, texture, perimeter, area, smoothness, compactness, concavity, concave points, symmetry, fractal dimension</a:t>
            </a:r>
          </a:p>
          <a:p>
            <a:pPr>
              <a:defRPr sz="1800"/>
            </a:pPr>
            <a:r>
              <a:rPr dirty="0"/>
              <a:t>• Each feature has 3 measurements: mean, standard error (SE), and worst (largest value)</a:t>
            </a:r>
          </a:p>
          <a:p>
            <a:pPr>
              <a:defRPr sz="1800"/>
            </a:pPr>
            <a:r>
              <a:rPr dirty="0"/>
              <a:t>Target Variable:</a:t>
            </a:r>
          </a:p>
          <a:p>
            <a:pPr>
              <a:defRPr sz="1800"/>
            </a:pPr>
            <a:r>
              <a:rPr dirty="0"/>
              <a:t>• Diagnosis: M (Malignant) or B (Benign)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rPr dirty="0"/>
              <a:t>Step 2: 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Data Cleaning:</a:t>
            </a:r>
          </a:p>
          <a:p>
            <a:pPr>
              <a:defRPr sz="1800"/>
            </a:pPr>
            <a:r>
              <a:rPr dirty="0"/>
              <a:t>• Removed unnecessary columns: 'id' (patient identifier) and 'Unnamed: 32' (empty column)</a:t>
            </a:r>
          </a:p>
          <a:p>
            <a:pPr>
              <a:defRPr sz="1800"/>
            </a:pPr>
            <a:r>
              <a:rPr dirty="0"/>
              <a:t>• Verified no missing values in the dataset</a:t>
            </a:r>
          </a:p>
          <a:p>
            <a:pPr>
              <a:defRPr sz="1800"/>
            </a:pPr>
            <a:r>
              <a:rPr dirty="0"/>
              <a:t>Data Encoding:</a:t>
            </a:r>
          </a:p>
          <a:p>
            <a:pPr>
              <a:defRPr sz="1800"/>
            </a:pPr>
            <a:r>
              <a:rPr dirty="0"/>
              <a:t>• Converted categorical target variable to numeric:</a:t>
            </a:r>
          </a:p>
          <a:p>
            <a:pPr>
              <a:defRPr sz="1800"/>
            </a:pPr>
            <a:r>
              <a:rPr dirty="0"/>
              <a:t>  - B (Benign) → 0</a:t>
            </a:r>
          </a:p>
          <a:p>
            <a:pPr>
              <a:defRPr sz="1800"/>
            </a:pPr>
            <a:r>
              <a:rPr dirty="0"/>
              <a:t>  - M (Malignant) → 1</a:t>
            </a:r>
          </a:p>
          <a:p>
            <a:pPr>
              <a:defRPr sz="1800"/>
            </a:pPr>
            <a:r>
              <a:rPr dirty="0"/>
              <a:t>Data Splitting:</a:t>
            </a:r>
          </a:p>
          <a:p>
            <a:pPr>
              <a:defRPr sz="1800"/>
            </a:pPr>
            <a:r>
              <a:rPr dirty="0"/>
              <a:t>• Training set: 80% (455 samples)</a:t>
            </a:r>
          </a:p>
          <a:p>
            <a:pPr>
              <a:defRPr sz="1800"/>
            </a:pPr>
            <a:r>
              <a:rPr dirty="0"/>
              <a:t>• Testing set: 20% (114 samples)</a:t>
            </a:r>
          </a:p>
          <a:p>
            <a:pPr>
              <a:defRPr sz="1800"/>
            </a:pPr>
            <a:r>
              <a:rPr dirty="0"/>
              <a:t>• Used stratified split to maintain class distribution in both sets</a:t>
            </a:r>
          </a:p>
          <a:p>
            <a:pPr>
              <a:defRPr sz="1800"/>
            </a:pPr>
            <a:r>
              <a:rPr dirty="0"/>
              <a:t>Feature Scaling:</a:t>
            </a:r>
          </a:p>
          <a:p>
            <a:pPr>
              <a:defRPr sz="1800"/>
            </a:pPr>
            <a:r>
              <a:rPr dirty="0"/>
              <a:t>• Random Forest handles features without scaling, so no normalization was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rPr dirty="0"/>
              <a:t>Step 3: 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Analysis Performed:</a:t>
            </a:r>
          </a:p>
          <a:p>
            <a:pPr>
              <a:defRPr sz="1800"/>
            </a:pPr>
            <a:r>
              <a:rPr dirty="0"/>
              <a:t>1. Class Distribution Analysis</a:t>
            </a:r>
          </a:p>
          <a:p>
            <a:pPr>
              <a:defRPr sz="1800"/>
            </a:pPr>
            <a:r>
              <a:rPr dirty="0"/>
              <a:t>   • Examined balance between Benign and Malignant cases</a:t>
            </a:r>
          </a:p>
          <a:p>
            <a:pPr>
              <a:defRPr sz="1800"/>
            </a:pPr>
            <a:r>
              <a:rPr dirty="0"/>
              <a:t>   • Found moderate imbalance (62.7% Benign, 37.3% Malignant)</a:t>
            </a:r>
          </a:p>
          <a:p>
            <a:pPr>
              <a:defRPr sz="1800"/>
            </a:pPr>
            <a:r>
              <a:rPr dirty="0"/>
              <a:t>2. Feature Correlation Analysis</a:t>
            </a:r>
          </a:p>
          <a:p>
            <a:pPr>
              <a:defRPr sz="1800"/>
            </a:pPr>
            <a:r>
              <a:rPr dirty="0"/>
              <a:t>   • Identified features most correlated with diagnosis</a:t>
            </a:r>
          </a:p>
          <a:p>
            <a:pPr>
              <a:defRPr sz="1800"/>
            </a:pPr>
            <a:r>
              <a:rPr dirty="0"/>
              <a:t>   • Analyzed </a:t>
            </a:r>
            <a:r>
              <a:rPr dirty="0" err="1"/>
              <a:t>multicollinearity</a:t>
            </a:r>
            <a:r>
              <a:rPr dirty="0"/>
              <a:t> among features</a:t>
            </a:r>
          </a:p>
          <a:p>
            <a:pPr>
              <a:defRPr sz="1800"/>
            </a:pPr>
            <a:r>
              <a:rPr dirty="0"/>
              <a:t>3. Statistical Analysis</a:t>
            </a:r>
          </a:p>
          <a:p>
            <a:pPr>
              <a:defRPr sz="1800"/>
            </a:pPr>
            <a:r>
              <a:rPr dirty="0"/>
              <a:t>   • Computed descriptive statistics grouped by diagnosis</a:t>
            </a:r>
          </a:p>
          <a:p>
            <a:pPr>
              <a:defRPr sz="1800"/>
            </a:pPr>
            <a:r>
              <a:rPr dirty="0"/>
              <a:t>   • Identified significant differences in feature distributions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rPr dirty="0"/>
              <a:t>Class Distribution Visualization</a:t>
            </a:r>
          </a:p>
        </p:txBody>
      </p:sp>
      <p:pic>
        <p:nvPicPr>
          <p:cNvPr id="3" name="Picture 2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657726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rPr dirty="0"/>
              <a:t>Feature Correlation Analysis</a:t>
            </a:r>
          </a:p>
        </p:txBody>
      </p:sp>
      <p:pic>
        <p:nvPicPr>
          <p:cNvPr id="3" name="Picture 2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505245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rPr dirty="0"/>
              <a:t>Step 4: Machine Learning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Algorithm Selection:</a:t>
            </a:r>
          </a:p>
          <a:p>
            <a:pPr>
              <a:defRPr sz="1800"/>
            </a:pPr>
            <a:r>
              <a:rPr dirty="0"/>
              <a:t>• Random Forest Classifier - an ensemble learning method</a:t>
            </a:r>
          </a:p>
          <a:p>
            <a:pPr>
              <a:defRPr sz="1800"/>
            </a:pPr>
            <a:r>
              <a:rPr dirty="0"/>
              <a:t>Why Random Forest?</a:t>
            </a:r>
          </a:p>
          <a:p>
            <a:pPr>
              <a:defRPr sz="1800"/>
            </a:pPr>
            <a:r>
              <a:rPr dirty="0"/>
              <a:t>• Handles non-linear relationships effectively</a:t>
            </a:r>
          </a:p>
          <a:p>
            <a:pPr>
              <a:defRPr sz="1800"/>
            </a:pPr>
            <a:r>
              <a:rPr dirty="0"/>
              <a:t>• Robust to outliers and overfitting</a:t>
            </a:r>
          </a:p>
          <a:p>
            <a:pPr>
              <a:defRPr sz="1800"/>
            </a:pPr>
            <a:r>
              <a:rPr dirty="0"/>
              <a:t>• Provides feature importance rankings</a:t>
            </a:r>
          </a:p>
          <a:p>
            <a:pPr>
              <a:defRPr sz="1800"/>
            </a:pPr>
            <a:r>
              <a:rPr dirty="0"/>
              <a:t>• Works well with medical diagnostic data</a:t>
            </a:r>
          </a:p>
          <a:p>
            <a:pPr>
              <a:defRPr sz="1800"/>
            </a:pPr>
            <a:r>
              <a:rPr dirty="0"/>
              <a:t>Model Configuration:</a:t>
            </a:r>
          </a:p>
          <a:p>
            <a:pPr>
              <a:defRPr sz="1800"/>
            </a:pPr>
            <a:r>
              <a:rPr dirty="0"/>
              <a:t>• Default parameters with </a:t>
            </a:r>
            <a:r>
              <a:rPr dirty="0" err="1"/>
              <a:t>random_state</a:t>
            </a:r>
            <a:r>
              <a:rPr dirty="0"/>
              <a:t>=42 for reproducibility</a:t>
            </a:r>
          </a:p>
          <a:p>
            <a:pPr>
              <a:defRPr sz="1800"/>
            </a:pPr>
            <a:r>
              <a:rPr dirty="0"/>
              <a:t>• Number of trees: 100 (default)</a:t>
            </a:r>
          </a:p>
          <a:p>
            <a:pPr>
              <a:defRPr sz="1800"/>
            </a:pPr>
            <a:r>
              <a:rPr dirty="0"/>
              <a:t>Training Process:</a:t>
            </a:r>
          </a:p>
          <a:p>
            <a:pPr>
              <a:defRPr sz="1800"/>
            </a:pPr>
            <a:r>
              <a:rPr dirty="0"/>
              <a:t>• Fit model on 455 training samples</a:t>
            </a:r>
          </a:p>
          <a:p>
            <a:pPr>
              <a:defRPr sz="1800"/>
            </a:pPr>
            <a:r>
              <a:rPr dirty="0"/>
              <a:t>• Validated on 114 held-out test samples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rPr dirty="0"/>
              <a:t>Step 5: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Evaluation Strategy:</a:t>
            </a:r>
          </a:p>
          <a:p>
            <a:pPr>
              <a:defRPr sz="1800"/>
            </a:pPr>
            <a:r>
              <a:rPr dirty="0"/>
              <a:t>Primary Metric:</a:t>
            </a:r>
          </a:p>
          <a:p>
            <a:pPr>
              <a:defRPr sz="1800"/>
            </a:pPr>
            <a:r>
              <a:rPr dirty="0"/>
              <a:t>• Accuracy: Overall percentage of correct predictions</a:t>
            </a:r>
          </a:p>
          <a:p>
            <a:pPr>
              <a:defRPr sz="1800"/>
            </a:pPr>
            <a:r>
              <a:rPr dirty="0"/>
              <a:t>Detailed Analysis:</a:t>
            </a:r>
          </a:p>
          <a:p>
            <a:pPr>
              <a:defRPr sz="1800"/>
            </a:pPr>
            <a:r>
              <a:rPr dirty="0"/>
              <a:t>• Confusion Matrix: Breakdown of True Positives, True Negatives, False Positives, False Negatives</a:t>
            </a:r>
          </a:p>
          <a:p>
            <a:pPr>
              <a:defRPr sz="1800"/>
            </a:pPr>
            <a:r>
              <a:rPr dirty="0"/>
              <a:t>Why these metrics?</a:t>
            </a:r>
          </a:p>
          <a:p>
            <a:pPr>
              <a:defRPr sz="1800"/>
            </a:pPr>
            <a:r>
              <a:rPr dirty="0"/>
              <a:t>• In medical diagnosis, it's critical to understand both:</a:t>
            </a:r>
          </a:p>
          <a:p>
            <a:pPr>
              <a:defRPr sz="1800"/>
            </a:pPr>
            <a:r>
              <a:rPr dirty="0"/>
              <a:t>  - Sensitivity (correctly identifying malignant cases)</a:t>
            </a:r>
          </a:p>
          <a:p>
            <a:pPr>
              <a:defRPr sz="1800"/>
            </a:pPr>
            <a:r>
              <a:rPr dirty="0"/>
              <a:t>  - Specificity (correctly identifying benign cases)</a:t>
            </a:r>
          </a:p>
          <a:p>
            <a:pPr>
              <a:defRPr sz="1800"/>
            </a:pPr>
            <a:r>
              <a:rPr dirty="0"/>
              <a:t>• False negatives (missing cancer) are particularly costly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rPr dirty="0"/>
              <a:t>Results: 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Model Performance Results:</a:t>
            </a:r>
          </a:p>
          <a:p>
            <a:pPr>
              <a:defRPr sz="1800"/>
            </a:pPr>
            <a:r>
              <a:rPr dirty="0"/>
              <a:t>Accuracy:  0.9737 (97.37%)</a:t>
            </a:r>
          </a:p>
          <a:p>
            <a:pPr>
              <a:defRPr sz="1800"/>
            </a:pPr>
            <a:r>
              <a:rPr dirty="0"/>
              <a:t>Precision: 1.0000 (100.00%)</a:t>
            </a:r>
          </a:p>
          <a:p>
            <a:pPr>
              <a:defRPr sz="1800"/>
            </a:pPr>
            <a:r>
              <a:rPr dirty="0"/>
              <a:t>Recall:    0.9286 (92.86%)</a:t>
            </a:r>
          </a:p>
          <a:p>
            <a:pPr>
              <a:defRPr sz="1800"/>
            </a:pPr>
            <a:r>
              <a:rPr dirty="0"/>
              <a:t>F1-Score:  0.9630 (96.30%)</a:t>
            </a:r>
          </a:p>
          <a:p>
            <a:pPr>
              <a:defRPr sz="1800"/>
            </a:pPr>
            <a:r>
              <a:rPr dirty="0"/>
              <a:t>Confusion Matrix:</a:t>
            </a:r>
          </a:p>
          <a:p>
            <a:pPr>
              <a:defRPr sz="1800"/>
            </a:pPr>
            <a:r>
              <a:rPr dirty="0"/>
              <a:t>                Predicted</a:t>
            </a:r>
          </a:p>
          <a:p>
            <a:pPr>
              <a:defRPr sz="1800"/>
            </a:pPr>
            <a:r>
              <a:rPr dirty="0"/>
              <a:t>              Benign  Malignant</a:t>
            </a:r>
          </a:p>
          <a:p>
            <a:pPr>
              <a:defRPr sz="1800"/>
            </a:pPr>
            <a:r>
              <a:rPr dirty="0"/>
              <a:t>Actual Benign     72        0</a:t>
            </a:r>
          </a:p>
          <a:p>
            <a:pPr>
              <a:defRPr sz="1800"/>
            </a:pPr>
            <a:r>
              <a:rPr dirty="0"/>
              <a:t>     Malignant     3       39</a:t>
            </a:r>
          </a:p>
          <a:p>
            <a:pPr>
              <a:defRPr sz="1800"/>
            </a:pPr>
            <a:r>
              <a:rPr dirty="0"/>
              <a:t>Interpretation:</a:t>
            </a:r>
          </a:p>
          <a:p>
            <a:pPr>
              <a:defRPr sz="1800"/>
            </a:pPr>
            <a:r>
              <a:rPr dirty="0"/>
              <a:t>The model correctly classified the test samples with high accuracy,</a:t>
            </a:r>
          </a:p>
          <a:p>
            <a:pPr>
              <a:defRPr sz="1800"/>
            </a:pPr>
            <a:r>
              <a:rPr dirty="0"/>
              <a:t>demonstrating strong predictive capability for breast cancer diagnosis.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rPr dirty="0"/>
              <a:t>Results: 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527179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rPr dirty="0"/>
              <a:t>Results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Key Findings:</a:t>
            </a:r>
          </a:p>
          <a:p>
            <a:pPr>
              <a:defRPr sz="1800"/>
            </a:pPr>
            <a:r>
              <a:rPr dirty="0"/>
              <a:t>✓ High Accuracy: The model achieves excellent performance on unseen data</a:t>
            </a:r>
          </a:p>
          <a:p>
            <a:pPr>
              <a:defRPr sz="1800"/>
            </a:pPr>
            <a:r>
              <a:rPr dirty="0"/>
              <a:t>✓ Confusion Matrix Insights:</a:t>
            </a:r>
          </a:p>
          <a:p>
            <a:pPr>
              <a:defRPr sz="1800"/>
            </a:pPr>
            <a:r>
              <a:rPr dirty="0"/>
              <a:t>  • True Positives: Correctly identified malignant cases</a:t>
            </a:r>
          </a:p>
          <a:p>
            <a:pPr>
              <a:defRPr sz="1800"/>
            </a:pPr>
            <a:r>
              <a:rPr dirty="0"/>
              <a:t>  • True Negatives: Correctly identified benign cases</a:t>
            </a:r>
          </a:p>
          <a:p>
            <a:pPr>
              <a:defRPr sz="1800"/>
            </a:pPr>
            <a:r>
              <a:rPr dirty="0"/>
              <a:t>  • False Positives: Benign cases incorrectly flagged as malignant (low risk)</a:t>
            </a:r>
          </a:p>
          <a:p>
            <a:pPr>
              <a:defRPr sz="1800"/>
            </a:pPr>
            <a:r>
              <a:rPr dirty="0"/>
              <a:t>  • False Negatives: Malignant cases missed (higher risk - minimize this)</a:t>
            </a:r>
          </a:p>
          <a:p>
            <a:pPr>
              <a:defRPr sz="1800"/>
            </a:pPr>
            <a:r>
              <a:rPr dirty="0"/>
              <a:t>Clinical Significance:</a:t>
            </a:r>
          </a:p>
          <a:p>
            <a:pPr>
              <a:defRPr sz="1800"/>
            </a:pPr>
            <a:r>
              <a:rPr dirty="0"/>
              <a:t>• The model can serve as a decision support tool for pathologists</a:t>
            </a:r>
          </a:p>
          <a:p>
            <a:pPr>
              <a:defRPr sz="1800"/>
            </a:pPr>
            <a:r>
              <a:rPr dirty="0"/>
              <a:t>• Reduces time required for diagnosis</a:t>
            </a:r>
          </a:p>
          <a:p>
            <a:pPr>
              <a:defRPr sz="1800"/>
            </a:pPr>
            <a:r>
              <a:rPr dirty="0"/>
              <a:t>• Provides consistent, reproducible results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rPr dirty="0"/>
              <a:t>Conclusion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Summary:</a:t>
            </a:r>
          </a:p>
          <a:p>
            <a:pPr>
              <a:defRPr sz="1800"/>
            </a:pPr>
            <a:r>
              <a:rPr dirty="0"/>
              <a:t>• Successfully developed an ML model for breast cancer classification</a:t>
            </a:r>
          </a:p>
          <a:p>
            <a:pPr>
              <a:defRPr sz="1800"/>
            </a:pPr>
            <a:r>
              <a:rPr dirty="0"/>
              <a:t>• Achieved high accuracy using Random Forest algorithm</a:t>
            </a:r>
          </a:p>
          <a:p>
            <a:pPr>
              <a:defRPr sz="1800"/>
            </a:pPr>
            <a:r>
              <a:rPr dirty="0"/>
              <a:t>• Model can distinguish between benign and malignant tumors effectively</a:t>
            </a:r>
          </a:p>
          <a:p>
            <a:pPr>
              <a:defRPr sz="1800"/>
            </a:pPr>
            <a:r>
              <a:rPr dirty="0"/>
              <a:t>Real-World Applications:</a:t>
            </a:r>
          </a:p>
          <a:p>
            <a:pPr>
              <a:defRPr sz="1800"/>
            </a:pPr>
            <a:r>
              <a:rPr dirty="0"/>
              <a:t>• Integration into hospital diagnostic workflows</a:t>
            </a:r>
          </a:p>
          <a:p>
            <a:pPr>
              <a:defRPr sz="1800"/>
            </a:pPr>
            <a:r>
              <a:rPr dirty="0"/>
              <a:t>• Second-opinion system for pathologists</a:t>
            </a:r>
          </a:p>
          <a:p>
            <a:pPr>
              <a:defRPr sz="1800"/>
            </a:pPr>
            <a:r>
              <a:rPr dirty="0"/>
              <a:t>• Screening tool in under-resourced medical facilities</a:t>
            </a:r>
          </a:p>
          <a:p>
            <a:pPr>
              <a:defRPr sz="1800"/>
            </a:pPr>
            <a:r>
              <a:rPr dirty="0"/>
              <a:t>Limitations:</a:t>
            </a:r>
          </a:p>
          <a:p>
            <a:pPr>
              <a:defRPr sz="1800"/>
            </a:pPr>
            <a:r>
              <a:rPr dirty="0"/>
              <a:t>• Requires validation on diverse patient populations</a:t>
            </a:r>
          </a:p>
          <a:p>
            <a:pPr>
              <a:defRPr sz="1800"/>
            </a:pPr>
            <a:r>
              <a:rPr dirty="0"/>
              <a:t>• Should complement, not replace, expert medical judgment</a:t>
            </a:r>
          </a:p>
          <a:p>
            <a:pPr>
              <a:defRPr sz="1800"/>
            </a:pPr>
            <a:r>
              <a:rPr dirty="0"/>
              <a:t>• Model interpretability could be enhanced for clinical adoption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/>
            </a:pPr>
            <a:r>
              <a:rPr dirty="0"/>
              <a:t>Future Work &amp;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pPr>
              <a:defRPr sz="1800"/>
            </a:pPr>
            <a:r>
              <a:rPr dirty="0"/>
              <a:t>Next Steps:</a:t>
            </a:r>
          </a:p>
          <a:p>
            <a:pPr>
              <a:defRPr sz="1800"/>
            </a:pPr>
            <a:r>
              <a:rPr dirty="0"/>
              <a:t>Model Enhancement:</a:t>
            </a:r>
          </a:p>
          <a:p>
            <a:pPr>
              <a:defRPr sz="1800"/>
            </a:pPr>
            <a:r>
              <a:rPr dirty="0"/>
              <a:t>• </a:t>
            </a:r>
            <a:r>
              <a:rPr dirty="0" err="1"/>
              <a:t>Hyperparameter</a:t>
            </a:r>
            <a:r>
              <a:rPr dirty="0"/>
              <a:t> tuning using </a:t>
            </a:r>
            <a:r>
              <a:rPr dirty="0" err="1"/>
              <a:t>GridSearchCV</a:t>
            </a:r>
            <a:r>
              <a:rPr dirty="0"/>
              <a:t> or </a:t>
            </a:r>
            <a:r>
              <a:rPr dirty="0" err="1"/>
              <a:t>RandomizedSearchCV</a:t>
            </a:r>
            <a:endParaRPr dirty="0"/>
          </a:p>
          <a:p>
            <a:pPr>
              <a:defRPr sz="1800"/>
            </a:pPr>
            <a:r>
              <a:rPr dirty="0"/>
              <a:t>• Test additional algorithms: SVM, </a:t>
            </a:r>
            <a:r>
              <a:rPr dirty="0" err="1"/>
              <a:t>XGBoost</a:t>
            </a:r>
            <a:r>
              <a:rPr dirty="0"/>
              <a:t>, Neural Networks</a:t>
            </a:r>
          </a:p>
          <a:p>
            <a:pPr>
              <a:defRPr sz="1800"/>
            </a:pPr>
            <a:r>
              <a:rPr dirty="0"/>
              <a:t>• Ensemble methods combining multiple models</a:t>
            </a:r>
          </a:p>
          <a:p>
            <a:pPr>
              <a:defRPr sz="1800"/>
            </a:pPr>
            <a:r>
              <a:rPr dirty="0"/>
              <a:t>Feature Engineering:</a:t>
            </a:r>
          </a:p>
          <a:p>
            <a:pPr>
              <a:defRPr sz="1800"/>
            </a:pPr>
            <a:r>
              <a:rPr dirty="0"/>
              <a:t>• Feature selection to identify most important predictors</a:t>
            </a:r>
          </a:p>
          <a:p>
            <a:pPr>
              <a:defRPr sz="1800"/>
            </a:pPr>
            <a:r>
              <a:rPr dirty="0"/>
              <a:t>• Dimensionality reduction (PCA) for efficiency</a:t>
            </a:r>
          </a:p>
          <a:p>
            <a:pPr>
              <a:defRPr sz="1800"/>
            </a:pPr>
            <a:r>
              <a:rPr dirty="0"/>
              <a:t>Deployment:</a:t>
            </a:r>
          </a:p>
          <a:p>
            <a:pPr>
              <a:defRPr sz="1800"/>
            </a:pPr>
            <a:r>
              <a:rPr dirty="0"/>
              <a:t>• Create web application for easy access</a:t>
            </a:r>
          </a:p>
          <a:p>
            <a:pPr>
              <a:defRPr sz="1800"/>
            </a:pPr>
            <a:r>
              <a:rPr dirty="0"/>
              <a:t>• Develop API for integration with medical systems</a:t>
            </a:r>
          </a:p>
          <a:p>
            <a:pPr>
              <a:defRPr sz="1800"/>
            </a:pPr>
            <a:r>
              <a:rPr dirty="0"/>
              <a:t>• Mobile app for point-of-care diagnosis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/>
            </a:pPr>
            <a:r>
              <a:rPr dirty="0"/>
              <a:t>Thank You</a:t>
            </a:r>
          </a:p>
          <a:p>
            <a:r>
              <a:rPr dirty="0"/>
              <a:t/>
            </a:r>
            <a:br>
              <a:rPr dirty="0"/>
            </a:br>
            <a:r>
              <a:rPr dirty="0"/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909</Words>
  <Application>Microsoft Office PowerPoint</Application>
  <PresentationFormat>On-screen Show (4:3)</PresentationFormat>
  <Paragraphs>142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Breast Cancer Classification</vt:lpstr>
      <vt:lpstr>Problem Statement</vt:lpstr>
      <vt:lpstr>Step 1: Data Source</vt:lpstr>
      <vt:lpstr>Step 2: Data Preparation</vt:lpstr>
      <vt:lpstr>Step 3: Exploratory Data Analysis</vt:lpstr>
      <vt:lpstr>Class Distribution Visualization</vt:lpstr>
      <vt:lpstr>Feature Correlation Analysis</vt:lpstr>
      <vt:lpstr>Step 4: Machine Learning Approach</vt:lpstr>
      <vt:lpstr>Step 5: Evaluation Metrics</vt:lpstr>
      <vt:lpstr>Results: Model Performance</vt:lpstr>
      <vt:lpstr>Results: Confusion Matrix</vt:lpstr>
      <vt:lpstr>Results Interpretation</vt:lpstr>
      <vt:lpstr>Conclusion &amp; Impact</vt:lpstr>
      <vt:lpstr>Future Work &amp; Improvements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Cancer Classification</dc:title>
  <dc:subject/>
  <dc:creator/>
  <cp:keywords/>
  <dc:description>generated using python-pptx</dc:description>
  <cp:lastModifiedBy>mburu kiganya</cp:lastModifiedBy>
  <cp:revision>8</cp:revision>
  <dcterms:created xsi:type="dcterms:W3CDTF">2013-01-27T09:14:16Z</dcterms:created>
  <dcterms:modified xsi:type="dcterms:W3CDTF">2025-12-04T07:45:31Z</dcterms:modified>
  <cp:category/>
</cp:coreProperties>
</file>